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82a53a-6f34-2abb-69bd-ed8adc08fed0}">
          <p14:sldIdLst>
            <p14:sldId id="256"/>
          </p14:sldIdLst>
        </p14:section>
        <p14:section name="Problem &amp; solution" id="{3b493dff-ff8b-9cb7-78ec-52e47de54e7f}">
          <p14:sldIdLst>
            <p14:sldId id="257"/>
            <p14:sldId id="258"/>
            <p14:sldId id="259"/>
            <p14:sldId id="260"/>
          </p14:sldIdLst>
        </p14:section>
        <p14:section name="Innovation &amp; technical approach" id="{4b8a8636-45ca-5ce0-735c-10711f10ba36}">
          <p14:sldIdLst>
            <p14:sldId id="261"/>
            <p14:sldId id="262"/>
          </p14:sldIdLst>
        </p14:section>
        <p14:section name="Feasibility &amp; execution" id="{ab4d6fb1-7297-7d15-a2dd-50354b3346ee}">
          <p14:sldIdLst>
            <p14:sldId id="263"/>
            <p14:sldId id="264"/>
          </p14:sldIdLst>
        </p14:section>
        <p14:section name="Close" id="{837d6e74-e959-69b3-a61a-94044b8be807}">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Good evening. We are [team name] and this is CorroSight by CorroGuard AI.
Pipeline operators inspect the same pipeline every few years. CorroSight connects those inspections, shows how sure we can be about every change, and explains which findings an engineer should look at first, and why.
Everything you will see runs on a fictional, synthetic pipeline. We built it that way on purpose, so we can check our answers against a known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Operators receive in-line inspection reports years apart: here 2016 and 2023 for the same pipeline. To know whether corrosion is growing you must first know which 2023 record is the same defect as which 2016 record. That is harder than it sounds, for four reasons, all taken from our dataset:
1. Positions drift. T0153 appears 0.47 m further along in 2023 purely because the tool's odometer drifted.
2. Identity is sometimes unclear. 29 pairings have a second candidate that fits almost as well.
3. Measurements are noisy. Tool uncertainty is 0.3 to 0.4 mm, so for 181 findings the change could simply be noise.
4. Data is incomplete: 20 errors and warnings, and 41 findings missing an engineering input.
Four kinds of people need the answer, and they ask the same question: what changed, how sure are we, and what should we look at first, and why. We are not claiming existing industry tools cannot do any of this; our focus is making the evidence and its uncertainty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Before writing any code we asked who would use this and what each person needs.
The integrity engineer needs the evidence and the reason behind each finding, and a place to record a decision. The data analyst needs data problems and uncertain matches surfaced early. The planner needs to know which investigations cover the most uncertainty within a budget. The operator or manager needs progress, open issues and a traceable record.
From that we fixed five design principles that every later decision had to respect: never alter the source data; never guess a defect's identity; show uncertainty with every number and say what kind of number it is; give every priority a written reason; and let people decide while the system records. These principles are the backbone of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the solution design in four layers, left to right.
Input: two or more in-line inspection runs as CSV or Excel listings, plus pipe data such as wall thickness, grade and pressure.
The analysis engine, in the middle, is five explainable steps: validate the records; align the runs and match defects; calculate the observed change with its uncertainty; produce an illustrative forecast; and prioritise with named rules.
The decision workflow is where people come in: a review workbench, four roles with permission checks, and what-if and planning scenarios.
The evidence layer keeps the record: an Evidence Passport, reproducible snapshots and a user-attributed audit trail.
Running through every layer, each value carries its kind: observed, calculated, uncertain, predicted, or a human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how we worked, in six steps.
First we studied the domain: how in-line inspection reports record defects, and why comparing runs is hard. Then we defined requirements: the stakeholders' needs, the five principles, and just as important, what we would not claim, such as failure prediction or safety certification.
Third, we designed the data: a schema and a seeded synthetic pipeline with a hidden answer key, including realistic problems like drift, duplicates and missing values. That answer key is what lets us measure ourselves honestly.
Fourth, we built step by step: validation, matching, growth, prioritisation, each with its own tests before the next was built on top.
Fifth, we validated against the answer key and switched features off to prove their value.
Finally we added the decision layer: the review workflow, roles, audit trail, Evidence Passport and a 3D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Eight steps, each deliberately simple and explainable.
Validation flags problems but never edits the data. Alignment estimates each segment's odometer offset from defects that clearly match. Matching uses position, clock and length, deliberately not depth, so growth cannot bias the match, and the Hungarian algorithm guarantees one-to-one pairs. When another candidate fits almost as well, we mark the pair ambiguous and refuse to forecast from it.
Change is compared against combined measurement uncertainty, square root of u1 squared plus u2 squared, at two sigma. Forecasts are constant-rate scenarios with an upper case; we also offer an empirical-Bayes shrinkage model. Prioritisation uses named rules, C for condition and E for evidence, so every category has a written reason.
On the right is one real finding, T0177, with every value labelled: observed, calculated, uncertain, predicted, and human decision, which is still empty because no engineer has reviewed it. We never mix these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Six ideas make this approach different.
Uncertainty-first matching: when two pairings fit almost equally well we do not pick one silently; it stays provisional and visible.
A contradiction finder: instead of a single confidence score, the system lists where pieces of evidence disagree and what extra evidence would resolve each case.
Models that challenge themselves: several growth methods compete on held-out data, so the forecasting method is chosen on evidence, not preference.
Evidence labels on every value, an Evidence Passport that is reproducible from a snapshot, and a 3D pipeline twin that lets people who are not specialists follow the reasoning in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How do we know it works? We built the test before trusting the tool.
We generate a synthetic pipeline with a hidden answer key: the true pairs and true growth rates. The analysis never sees it. Afterwards we compare: match precision and recall, growth-rate error, and whether the uncertainty intervals cover the truth. We also switch features off to measure what each adds; without odometer alignment, for example, false matches appear. And every rule has automated tests.
Early results on that synthetic data: every likely match correct, 241 of 243 true pairs recovered, and a growth-rate error of 0.042 mm per year with the shrinkage model.
To be clear, this is our own synthetic data, so it shows the method behaves as designed, not real-world accuracy. Real-data evaluation is phase 3 of 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Feasibility. On the left is the proof of concept already in place, running on an ordinary laptop: open-source Python, no paid service, and no data leaves the machine. It imports CSV files and has an importer for a public real-world inspection dataset. It has proper sign-in with hashed passwords, four roles with permissions enforced on the server, and an audit log, plus 280 automated tests.
On the right is our execution plan, and each phase has a check before we move on: stabilise, test on controlled data with known answers, evaluate on representative real data with expert-labelled pairs, get integrity engineers to review our rules, run a controlled pilot side by side with the current process, and only then address production security, governance and organisational approval.
We are explicit about the gaps: weld-based alignment, tool-bias correction and three-plus-run growth are next; remaining-strength calculation is out of scope by design. Real use needs engineering validation and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To close: CorroSight connects evidence across inspection runs, makes measurement uncertainty visible, explains why each finding is prioritised, supports rather than replaces human review, and keeps a traceable record.
In one sentence: CorroSight does not merely predict or prioritise. It connects inspection evidence, exposes uncertainty, challenges its own analysis and helps engineers make better-informed decisions.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pic>
        <p:nvPicPr>
          <p:cNvPr id="3" name="Image 0" descr="preencoded.png">    </p:cNvPr>
          <p:cNvPicPr>
            <a:picLocks noChangeAspect="1"/>
          </p:cNvPicPr>
          <p:nvPr/>
        </p:nvPicPr>
        <p:blipFill>
          <a:blip r:embed="rId1"/>
          <a:stretch>
            <a:fillRect/>
          </a:stretch>
        </p:blipFill>
        <p:spPr>
          <a:xfrm>
            <a:off x="548640" y="6382512"/>
            <a:ext cx="182880" cy="246888"/>
          </a:xfrm>
          <a:prstGeom prst="rect">
            <a:avLst/>
          </a:prstGeom>
        </p:spPr>
      </p:pic>
      <p:sp>
        <p:nvSpPr>
          <p:cNvPr id="4" name="Text 0"/>
          <p:cNvSpPr/>
          <p:nvPr/>
        </p:nvSpPr>
        <p:spPr>
          <a:xfrm>
            <a:off x="804672" y="6364224"/>
            <a:ext cx="7772400" cy="292608"/>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CorroSight by CorroGuard AI  ·  synthetic demo data, fictional pipeline CG-DEMO-24IN-01</a:t>
            </a:r>
            <a:endParaRPr lang="en-US" sz="10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3D pipeline hero" descr="/tmp/claude-0/-home-claude/c1e714b0-ac62-5293-9bb6-daaf9b70ecba/scratchpad/m3d/deck/hero_band.png">    </p:cNvPr>
          <p:cNvPicPr>
            <a:picLocks noChangeAspect="1"/>
          </p:cNvPicPr>
          <p:nvPr/>
        </p:nvPicPr>
        <p:blipFill>
          <a:blip r:embed="rId1"/>
          <a:stretch>
            <a:fillRect/>
          </a:stretch>
        </p:blipFill>
        <p:spPr>
          <a:xfrm>
            <a:off x="0" y="4224528"/>
            <a:ext cx="12191695" cy="2556323"/>
          </a:xfrm>
          <a:prstGeom prst="rect">
            <a:avLst/>
          </a:prstGeom>
        </p:spPr>
      </p:pic>
      <p:pic>
        <p:nvPicPr>
          <p:cNvPr id="3" name="Logo" descr="preencoded.png">    </p:cNvPr>
          <p:cNvPicPr>
            <a:picLocks noChangeAspect="1"/>
          </p:cNvPicPr>
          <p:nvPr/>
        </p:nvPicPr>
        <p:blipFill>
          <a:blip r:embed="rId2"/>
          <a:stretch>
            <a:fillRect/>
          </a:stretch>
        </p:blipFill>
        <p:spPr>
          <a:xfrm>
            <a:off x="685800" y="685800"/>
            <a:ext cx="566928" cy="768096"/>
          </a:xfrm>
          <a:prstGeom prst="rect">
            <a:avLst/>
          </a:prstGeom>
        </p:spPr>
      </p:pic>
      <p:sp>
        <p:nvSpPr>
          <p:cNvPr id="4" name="Title"/>
          <p:cNvSpPr txBox="1"/>
          <p:nvPr/>
        </p:nvSpPr>
        <p:spPr>
          <a:xfrm>
            <a:off x="1417320" y="603504"/>
            <a:ext cx="9601200" cy="914400"/>
          </a:xfrm>
          <a:prstGeom prst="rect">
            <a:avLst/>
          </a:prstGeom>
          <a:noFill/>
          <a:ln/>
        </p:spPr>
        <p:txBody>
          <a:bodyPr wrap="square" lIns="0" tIns="0" rIns="0" bIns="0" rtlCol="0" anchor="ctr"/>
          <a:lstStyle/>
          <a:p>
            <a:pPr indent="0" marL="0">
              <a:buNone/>
            </a:pPr>
            <a:r>
              <a:rPr lang="en-US" sz="5400" b="1" dirty="0">
                <a:solidFill>
                  <a:schemeClr val="bg1"/>
                </a:solidFill>
                <a:latin typeface="Arial" pitchFamily="34" charset="0"/>
                <a:ea typeface="Arial" pitchFamily="34" charset="-122"/>
                <a:cs typeface="Arial" pitchFamily="34" charset="-120"/>
              </a:rPr>
              <a:t>CorroSight</a:t>
            </a:r>
            <a:pPr indent="0" marL="0">
              <a:buNone/>
            </a:pPr>
            <a:r>
              <a:rPr lang="en-US" sz="2600" dirty="0">
                <a:solidFill>
                  <a:schemeClr val="bg2"/>
                </a:solidFill>
                <a:latin typeface="Arial" pitchFamily="34" charset="0"/>
                <a:ea typeface="Arial" pitchFamily="34" charset="-122"/>
                <a:cs typeface="Arial" pitchFamily="34" charset="-120"/>
              </a:rPr>
              <a:t>  by CorroGuard AI</a:t>
            </a:r>
            <a:endParaRPr lang="en-US" sz="5400" dirty="0"/>
          </a:p>
        </p:txBody>
      </p:sp>
      <p:sp>
        <p:nvSpPr>
          <p:cNvPr id="5" name="Subtitle"/>
          <p:cNvSpPr txBox="1"/>
          <p:nvPr/>
        </p:nvSpPr>
        <p:spPr>
          <a:xfrm>
            <a:off x="685800" y="1737360"/>
            <a:ext cx="10515600" cy="502920"/>
          </a:xfrm>
          <a:prstGeom prst="rect">
            <a:avLst/>
          </a:prstGeom>
          <a:noFill/>
          <a:ln/>
        </p:spPr>
        <p:txBody>
          <a:bodyPr wrap="square" lIns="0" tIns="0" rIns="0" bIns="0" rtlCol="0" anchor="ctr"/>
          <a:lstStyle/>
          <a:p>
            <a:pPr indent="0" marL="0">
              <a:buNone/>
            </a:pPr>
            <a:r>
              <a:rPr lang="en-US" sz="2400" dirty="0">
                <a:solidFill>
                  <a:schemeClr val="bg1"/>
                </a:solidFill>
              </a:rPr>
              <a:t>Intelligent Pipeline Corrosion Prediction and Repair Planning</a:t>
            </a:r>
            <a:endParaRPr lang="en-US" sz="2400" dirty="0"/>
          </a:p>
        </p:txBody>
      </p:sp>
      <p:sp>
        <p:nvSpPr>
          <p:cNvPr id="6" name="Tagline"/>
          <p:cNvSpPr txBox="1"/>
          <p:nvPr/>
        </p:nvSpPr>
        <p:spPr>
          <a:xfrm>
            <a:off x="685800" y="2286000"/>
            <a:ext cx="10515600" cy="457200"/>
          </a:xfrm>
          <a:prstGeom prst="rect">
            <a:avLst/>
          </a:prstGeom>
          <a:noFill/>
          <a:ln/>
        </p:spPr>
        <p:txBody>
          <a:bodyPr wrap="square" lIns="0" tIns="0" rIns="0" bIns="0" rtlCol="0" anchor="ctr"/>
          <a:lstStyle/>
          <a:p>
            <a:pPr indent="0" marL="0">
              <a:buNone/>
            </a:pPr>
            <a:r>
              <a:rPr lang="en-US" sz="2000" i="1" dirty="0">
                <a:solidFill>
                  <a:schemeClr val="accent2"/>
                </a:solidFill>
              </a:rPr>
              <a:t>Predict corrosion. Understand uncertainty. Prioritize action.</a:t>
            </a:r>
            <a:endParaRPr lang="en-US" sz="2000" dirty="0"/>
          </a:p>
        </p:txBody>
      </p:sp>
      <p:sp>
        <p:nvSpPr>
          <p:cNvPr id="7" name="Team"/>
          <p:cNvSpPr txBox="1"/>
          <p:nvPr/>
        </p:nvSpPr>
        <p:spPr>
          <a:xfrm>
            <a:off x="685800" y="2971800"/>
            <a:ext cx="7772400" cy="365760"/>
          </a:xfrm>
          <a:prstGeom prst="rect">
            <a:avLst/>
          </a:prstGeom>
          <a:noFill/>
          <a:ln/>
        </p:spPr>
        <p:txBody>
          <a:bodyPr wrap="square" lIns="0" tIns="0" rIns="0" bIns="0" rtlCol="0" anchor="ctr"/>
          <a:lstStyle/>
          <a:p>
            <a:pPr indent="0" marL="0">
              <a:buNone/>
            </a:pPr>
            <a:r>
              <a:rPr lang="en-US" sz="1600" b="1" dirty="0">
                <a:solidFill>
                  <a:schemeClr val="bg1"/>
                </a:solidFill>
              </a:rPr>
              <a:t>Team: </a:t>
            </a:r>
            <a:pPr indent="0" marL="0">
              <a:buNone/>
            </a:pPr>
            <a:r>
              <a:rPr lang="en-US" sz="1600" dirty="0">
                <a:solidFill>
                  <a:schemeClr val="bg2"/>
                </a:solidFill>
              </a:rPr>
              <a:t>[Member 1]  ·  [Member 2]  ·  [Member 3]  ·  [Member 4]</a:t>
            </a:r>
            <a:endParaRPr lang="en-US" sz="1600" dirty="0"/>
          </a:p>
        </p:txBody>
      </p:sp>
      <p:sp>
        <p:nvSpPr>
          <p:cNvPr id="8" name="Event"/>
          <p:cNvSpPr txBox="1"/>
          <p:nvPr/>
        </p:nvSpPr>
        <p:spPr>
          <a:xfrm>
            <a:off x="685800" y="3364992"/>
            <a:ext cx="7772400" cy="365760"/>
          </a:xfrm>
          <a:prstGeom prst="rect">
            <a:avLst/>
          </a:prstGeom>
          <a:noFill/>
          <a:ln/>
        </p:spPr>
        <p:txBody>
          <a:bodyPr wrap="square" lIns="0" tIns="0" rIns="0" bIns="0" rtlCol="0" anchor="ctr"/>
          <a:lstStyle/>
          <a:p>
            <a:pPr indent="0" marL="0">
              <a:buNone/>
            </a:pPr>
            <a:r>
              <a:rPr lang="en-US" sz="1400" dirty="0">
                <a:solidFill>
                  <a:schemeClr val="bg2"/>
                </a:solidFill>
              </a:rPr>
              <a:t>GCEM Hacks 5.0  ·  Second-round review  ·  23 October 2026</a:t>
            </a:r>
            <a:endParaRPr lang="en-US" sz="1400" dirty="0"/>
          </a:p>
        </p:txBody>
      </p:sp>
      <p:sp>
        <p:nvSpPr>
          <p:cNvPr id="9" name="Synthetic chip"/>
          <p:cNvSpPr/>
          <p:nvPr/>
        </p:nvSpPr>
        <p:spPr>
          <a:xfrm>
            <a:off x="8732520" y="3017520"/>
            <a:ext cx="2788920" cy="457200"/>
          </a:xfrm>
          <a:prstGeom prst="roundRect">
            <a:avLst>
              <a:gd name="adj" fmla="val 12000"/>
            </a:avLst>
          </a:prstGeom>
          <a:solidFill>
            <a:schemeClr val="tx2"/>
          </a:solidFill>
          <a:ln w="12700">
            <a:solidFill>
              <a:srgbClr val="E8B25A"/>
            </a:solidFill>
            <a:prstDash val="solid"/>
          </a:ln>
        </p:spPr>
      </p:sp>
      <p:sp>
        <p:nvSpPr>
          <p:cNvPr id="10" name="Synthetic chip text"/>
          <p:cNvSpPr txBox="1"/>
          <p:nvPr/>
        </p:nvSpPr>
        <p:spPr>
          <a:xfrm>
            <a:off x="8732520" y="3017520"/>
            <a:ext cx="2788920" cy="457200"/>
          </a:xfrm>
          <a:prstGeom prst="rect">
            <a:avLst/>
          </a:prstGeom>
          <a:noFill/>
          <a:ln/>
        </p:spPr>
        <p:txBody>
          <a:bodyPr wrap="square" lIns="0" tIns="0" rIns="0" bIns="0" rtlCol="0" anchor="ctr"/>
          <a:lstStyle/>
          <a:p>
            <a:pPr algn="ctr" indent="0" marL="0">
              <a:buNone/>
            </a:pPr>
            <a:r>
              <a:rPr lang="en-US" sz="1200" b="1" spc="200" kern="0" dirty="0">
                <a:solidFill>
                  <a:schemeClr val="accent4"/>
                </a:solidFill>
              </a:rPr>
              <a:t>SYNTHETIC DEMO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Which defect is which, seven years later?</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Problem &amp; Solution · 20</a:t>
            </a:r>
            <a:endParaRPr lang="en-US" sz="900" dirty="0"/>
          </a:p>
        </p:txBody>
      </p:sp>
      <p:sp>
        <p:nvSpPr>
          <p:cNvPr id="5" name="Problem 1"/>
          <p:cNvSpPr/>
          <p:nvPr/>
        </p:nvSpPr>
        <p:spPr>
          <a:xfrm>
            <a:off x="548640" y="1481328"/>
            <a:ext cx="6903720" cy="1005840"/>
          </a:xfrm>
          <a:prstGeom prst="roundRect">
            <a:avLst>
              <a:gd name="adj" fmla="val 7273"/>
            </a:avLst>
          </a:prstGeom>
          <a:solidFill>
            <a:schemeClr val="tx2"/>
          </a:solidFill>
          <a:ln w="12700">
            <a:solidFill>
              <a:srgbClr val="28414D"/>
            </a:solidFill>
            <a:prstDash val="solid"/>
          </a:ln>
        </p:spPr>
      </p:sp>
      <p:sp>
        <p:nvSpPr>
          <p:cNvPr id="6" name="Problem icon ring 1"/>
          <p:cNvSpPr/>
          <p:nvPr/>
        </p:nvSpPr>
        <p:spPr>
          <a:xfrm>
            <a:off x="749808" y="1709928"/>
            <a:ext cx="548640" cy="548640"/>
          </a:xfrm>
          <a:prstGeom prst="ellipse">
            <a:avLst/>
          </a:prstGeom>
          <a:solidFill>
            <a:schemeClr val="tx1"/>
          </a:solidFill>
          <a:ln w="15875">
            <a:solidFill>
              <a:srgbClr val="45D6C5"/>
            </a:solidFill>
            <a:prstDash val="solid"/>
          </a:ln>
        </p:spPr>
      </p:sp>
      <p:pic>
        <p:nvPicPr>
          <p:cNvPr id="7" name="Problem icon 1" descr="preencoded.png">    </p:cNvPr>
          <p:cNvPicPr>
            <a:picLocks noChangeAspect="1"/>
          </p:cNvPicPr>
          <p:nvPr/>
        </p:nvPicPr>
        <p:blipFill>
          <a:blip r:embed="rId1"/>
          <a:stretch>
            <a:fillRect/>
          </a:stretch>
        </p:blipFill>
        <p:spPr>
          <a:xfrm>
            <a:off x="877824" y="1837944"/>
            <a:ext cx="292608" cy="292608"/>
          </a:xfrm>
          <a:prstGeom prst="rect">
            <a:avLst/>
          </a:prstGeom>
        </p:spPr>
      </p:pic>
      <p:sp>
        <p:nvSpPr>
          <p:cNvPr id="8" name="Problem text 1"/>
          <p:cNvSpPr txBox="1"/>
          <p:nvPr/>
        </p:nvSpPr>
        <p:spPr>
          <a:xfrm>
            <a:off x="1508760" y="1554480"/>
            <a:ext cx="5806440" cy="868680"/>
          </a:xfrm>
          <a:prstGeom prst="rect">
            <a:avLst/>
          </a:prstGeom>
          <a:noFill/>
          <a:ln/>
        </p:spPr>
        <p:txBody>
          <a:bodyPr wrap="square" lIns="0" tIns="0" rIns="0" bIns="0" rtlCol="0" anchor="ctr"/>
          <a:lstStyle/>
          <a:p>
            <a:pPr indent="0" marL="0">
              <a:buNone/>
            </a:pPr>
            <a:r>
              <a:rPr lang="en-US" sz="1600" b="1" dirty="0">
                <a:solidFill>
                  <a:schemeClr val="bg1"/>
                </a:solidFill>
              </a:rPr>
              <a:t>Positions drift between runs</a:t>
            </a:r>
            <a:endParaRPr lang="en-US" sz="1600" dirty="0"/>
          </a:p>
          <a:p>
            <a:pPr indent="0" marL="0">
              <a:buNone/>
            </a:pPr>
            <a:r>
              <a:rPr lang="en-US" sz="1400" dirty="0">
                <a:solidFill>
                  <a:schemeClr val="bg2"/>
                </a:solidFill>
              </a:rPr>
              <a:t>The inspection tool's odometer drifts. Defect T0153 in segment S17 is reported 0.47 m further along in 2023 than in 2016.</a:t>
            </a:r>
            <a:endParaRPr lang="en-US" sz="1600" dirty="0"/>
          </a:p>
        </p:txBody>
      </p:sp>
      <p:sp>
        <p:nvSpPr>
          <p:cNvPr id="9" name="Problem 2"/>
          <p:cNvSpPr/>
          <p:nvPr/>
        </p:nvSpPr>
        <p:spPr>
          <a:xfrm>
            <a:off x="548640" y="2651760"/>
            <a:ext cx="6903720" cy="1005840"/>
          </a:xfrm>
          <a:prstGeom prst="roundRect">
            <a:avLst>
              <a:gd name="adj" fmla="val 7273"/>
            </a:avLst>
          </a:prstGeom>
          <a:solidFill>
            <a:schemeClr val="tx2"/>
          </a:solidFill>
          <a:ln w="12700">
            <a:solidFill>
              <a:srgbClr val="28414D"/>
            </a:solidFill>
            <a:prstDash val="solid"/>
          </a:ln>
        </p:spPr>
      </p:sp>
      <p:sp>
        <p:nvSpPr>
          <p:cNvPr id="10" name="Problem icon ring 2"/>
          <p:cNvSpPr/>
          <p:nvPr/>
        </p:nvSpPr>
        <p:spPr>
          <a:xfrm>
            <a:off x="749808" y="2880360"/>
            <a:ext cx="548640" cy="548640"/>
          </a:xfrm>
          <a:prstGeom prst="ellipse">
            <a:avLst/>
          </a:prstGeom>
          <a:solidFill>
            <a:schemeClr val="tx1"/>
          </a:solidFill>
          <a:ln w="15875">
            <a:solidFill>
              <a:srgbClr val="E8B25A"/>
            </a:solidFill>
            <a:prstDash val="solid"/>
          </a:ln>
        </p:spPr>
      </p:sp>
      <p:pic>
        <p:nvPicPr>
          <p:cNvPr id="11" name="Problem icon 2" descr="preencoded.png">    </p:cNvPr>
          <p:cNvPicPr>
            <a:picLocks noChangeAspect="1"/>
          </p:cNvPicPr>
          <p:nvPr/>
        </p:nvPicPr>
        <p:blipFill>
          <a:blip r:embed="rId2"/>
          <a:stretch>
            <a:fillRect/>
          </a:stretch>
        </p:blipFill>
        <p:spPr>
          <a:xfrm>
            <a:off x="877824" y="3008376"/>
            <a:ext cx="292608" cy="292608"/>
          </a:xfrm>
          <a:prstGeom prst="rect">
            <a:avLst/>
          </a:prstGeom>
        </p:spPr>
      </p:pic>
      <p:sp>
        <p:nvSpPr>
          <p:cNvPr id="12" name="Problem text 2"/>
          <p:cNvSpPr txBox="1"/>
          <p:nvPr/>
        </p:nvSpPr>
        <p:spPr>
          <a:xfrm>
            <a:off x="1508760" y="2724912"/>
            <a:ext cx="5806440" cy="868680"/>
          </a:xfrm>
          <a:prstGeom prst="rect">
            <a:avLst/>
          </a:prstGeom>
          <a:noFill/>
          <a:ln/>
        </p:spPr>
        <p:txBody>
          <a:bodyPr wrap="square" lIns="0" tIns="0" rIns="0" bIns="0" rtlCol="0" anchor="ctr"/>
          <a:lstStyle/>
          <a:p>
            <a:pPr indent="0" marL="0">
              <a:buNone/>
            </a:pPr>
            <a:r>
              <a:rPr lang="en-US" sz="1600" b="1" dirty="0">
                <a:solidFill>
                  <a:schemeClr val="bg1"/>
                </a:solidFill>
              </a:rPr>
              <a:t>Identity is not always clear</a:t>
            </a:r>
            <a:endParaRPr lang="en-US" sz="1600" dirty="0"/>
          </a:p>
          <a:p>
            <a:pPr indent="0" marL="0">
              <a:buNone/>
            </a:pPr>
            <a:r>
              <a:rPr lang="en-US" sz="1400" dirty="0">
                <a:solidFill>
                  <a:schemeClr val="bg2"/>
                </a:solidFill>
              </a:rPr>
              <a:t>29 of 241 pairings have a competing candidate that fits almost as well. Guessing would silently corrupt the growth numbers.</a:t>
            </a:r>
            <a:endParaRPr lang="en-US" sz="1600" dirty="0"/>
          </a:p>
        </p:txBody>
      </p:sp>
      <p:sp>
        <p:nvSpPr>
          <p:cNvPr id="13" name="Problem 3"/>
          <p:cNvSpPr/>
          <p:nvPr/>
        </p:nvSpPr>
        <p:spPr>
          <a:xfrm>
            <a:off x="548640" y="3822192"/>
            <a:ext cx="6903720" cy="1005840"/>
          </a:xfrm>
          <a:prstGeom prst="roundRect">
            <a:avLst>
              <a:gd name="adj" fmla="val 7273"/>
            </a:avLst>
          </a:prstGeom>
          <a:solidFill>
            <a:schemeClr val="tx2"/>
          </a:solidFill>
          <a:ln w="12700">
            <a:solidFill>
              <a:srgbClr val="28414D"/>
            </a:solidFill>
            <a:prstDash val="solid"/>
          </a:ln>
        </p:spPr>
      </p:sp>
      <p:sp>
        <p:nvSpPr>
          <p:cNvPr id="14" name="Problem icon ring 3"/>
          <p:cNvSpPr/>
          <p:nvPr/>
        </p:nvSpPr>
        <p:spPr>
          <a:xfrm>
            <a:off x="749808" y="4050792"/>
            <a:ext cx="548640" cy="548640"/>
          </a:xfrm>
          <a:prstGeom prst="ellipse">
            <a:avLst/>
          </a:prstGeom>
          <a:solidFill>
            <a:schemeClr val="tx1"/>
          </a:solidFill>
          <a:ln w="15875">
            <a:solidFill>
              <a:srgbClr val="C7A6F2"/>
            </a:solidFill>
            <a:prstDash val="solid"/>
          </a:ln>
        </p:spPr>
      </p:sp>
      <p:pic>
        <p:nvPicPr>
          <p:cNvPr id="15" name="Problem icon 3" descr="preencoded.png">    </p:cNvPr>
          <p:cNvPicPr>
            <a:picLocks noChangeAspect="1"/>
          </p:cNvPicPr>
          <p:nvPr/>
        </p:nvPicPr>
        <p:blipFill>
          <a:blip r:embed="rId3"/>
          <a:stretch>
            <a:fillRect/>
          </a:stretch>
        </p:blipFill>
        <p:spPr>
          <a:xfrm>
            <a:off x="877824" y="4178808"/>
            <a:ext cx="292608" cy="292608"/>
          </a:xfrm>
          <a:prstGeom prst="rect">
            <a:avLst/>
          </a:prstGeom>
        </p:spPr>
      </p:pic>
      <p:sp>
        <p:nvSpPr>
          <p:cNvPr id="16" name="Problem text 3"/>
          <p:cNvSpPr txBox="1"/>
          <p:nvPr/>
        </p:nvSpPr>
        <p:spPr>
          <a:xfrm>
            <a:off x="1508760" y="3895344"/>
            <a:ext cx="5806440" cy="868680"/>
          </a:xfrm>
          <a:prstGeom prst="rect">
            <a:avLst/>
          </a:prstGeom>
          <a:noFill/>
          <a:ln/>
        </p:spPr>
        <p:txBody>
          <a:bodyPr wrap="square" lIns="0" tIns="0" rIns="0" bIns="0" rtlCol="0" anchor="ctr"/>
          <a:lstStyle/>
          <a:p>
            <a:pPr indent="0" marL="0">
              <a:buNone/>
            </a:pPr>
            <a:r>
              <a:rPr lang="en-US" sz="1600" b="1" dirty="0">
                <a:solidFill>
                  <a:schemeClr val="bg1"/>
                </a:solidFill>
              </a:rPr>
              <a:t>Every measurement has noise</a:t>
            </a:r>
            <a:endParaRPr lang="en-US" sz="1600" dirty="0"/>
          </a:p>
          <a:p>
            <a:pPr indent="0" marL="0">
              <a:buNone/>
            </a:pPr>
            <a:r>
              <a:rPr lang="en-US" sz="1400" dirty="0">
                <a:solidFill>
                  <a:schemeClr val="bg2"/>
                </a:solidFill>
              </a:rPr>
              <a:t>Tool uncertainty is 0.3–0.4 mm (1σ). For 181 of 367 findings the observed change is within that noise.</a:t>
            </a:r>
            <a:endParaRPr lang="en-US" sz="1600" dirty="0"/>
          </a:p>
        </p:txBody>
      </p:sp>
      <p:sp>
        <p:nvSpPr>
          <p:cNvPr id="17" name="Problem 4"/>
          <p:cNvSpPr/>
          <p:nvPr/>
        </p:nvSpPr>
        <p:spPr>
          <a:xfrm>
            <a:off x="548640" y="4992624"/>
            <a:ext cx="6903720" cy="1005840"/>
          </a:xfrm>
          <a:prstGeom prst="roundRect">
            <a:avLst>
              <a:gd name="adj" fmla="val 7273"/>
            </a:avLst>
          </a:prstGeom>
          <a:solidFill>
            <a:schemeClr val="tx2"/>
          </a:solidFill>
          <a:ln w="12700">
            <a:solidFill>
              <a:srgbClr val="28414D"/>
            </a:solidFill>
            <a:prstDash val="solid"/>
          </a:ln>
        </p:spPr>
      </p:sp>
      <p:sp>
        <p:nvSpPr>
          <p:cNvPr id="18" name="Problem icon ring 4"/>
          <p:cNvSpPr/>
          <p:nvPr/>
        </p:nvSpPr>
        <p:spPr>
          <a:xfrm>
            <a:off x="749808" y="5221224"/>
            <a:ext cx="548640" cy="548640"/>
          </a:xfrm>
          <a:prstGeom prst="ellipse">
            <a:avLst/>
          </a:prstGeom>
          <a:solidFill>
            <a:schemeClr val="tx1"/>
          </a:solidFill>
          <a:ln w="15875">
            <a:solidFill>
              <a:srgbClr val="F07A5F"/>
            </a:solidFill>
            <a:prstDash val="solid"/>
          </a:ln>
        </p:spPr>
      </p:sp>
      <p:pic>
        <p:nvPicPr>
          <p:cNvPr id="19" name="Problem icon 4" descr="preencoded.png">    </p:cNvPr>
          <p:cNvPicPr>
            <a:picLocks noChangeAspect="1"/>
          </p:cNvPicPr>
          <p:nvPr/>
        </p:nvPicPr>
        <p:blipFill>
          <a:blip r:embed="rId4"/>
          <a:stretch>
            <a:fillRect/>
          </a:stretch>
        </p:blipFill>
        <p:spPr>
          <a:xfrm>
            <a:off x="877824" y="5349240"/>
            <a:ext cx="292608" cy="292608"/>
          </a:xfrm>
          <a:prstGeom prst="rect">
            <a:avLst/>
          </a:prstGeom>
        </p:spPr>
      </p:pic>
      <p:sp>
        <p:nvSpPr>
          <p:cNvPr id="20" name="Problem text 4"/>
          <p:cNvSpPr txBox="1"/>
          <p:nvPr/>
        </p:nvSpPr>
        <p:spPr>
          <a:xfrm>
            <a:off x="1508760" y="5065776"/>
            <a:ext cx="5806440" cy="868680"/>
          </a:xfrm>
          <a:prstGeom prst="rect">
            <a:avLst/>
          </a:prstGeom>
          <a:noFill/>
          <a:ln/>
        </p:spPr>
        <p:txBody>
          <a:bodyPr wrap="square" lIns="0" tIns="0" rIns="0" bIns="0" rtlCol="0" anchor="ctr"/>
          <a:lstStyle/>
          <a:p>
            <a:pPr indent="0" marL="0">
              <a:buNone/>
            </a:pPr>
            <a:r>
              <a:rPr lang="en-US" sz="1600" b="1" dirty="0">
                <a:solidFill>
                  <a:schemeClr val="bg1"/>
                </a:solidFill>
              </a:rPr>
              <a:t>Data is incomplete</a:t>
            </a:r>
            <a:endParaRPr lang="en-US" sz="1600" dirty="0"/>
          </a:p>
          <a:p>
            <a:pPr indent="0" marL="0">
              <a:buNone/>
            </a:pPr>
            <a:r>
              <a:rPr lang="en-US" sz="1400" dirty="0">
                <a:solidFill>
                  <a:schemeClr val="bg2"/>
                </a:solidFill>
              </a:rPr>
              <a:t>12 errors and 8 warnings in the records; 41 findings miss an engineering input such as wall thickness or pipe grade.</a:t>
            </a:r>
            <a:endParaRPr lang="en-US" sz="1600" dirty="0"/>
          </a:p>
        </p:txBody>
      </p:sp>
      <p:sp>
        <p:nvSpPr>
          <p:cNvPr id="21" name="Question card"/>
          <p:cNvSpPr/>
          <p:nvPr/>
        </p:nvSpPr>
        <p:spPr>
          <a:xfrm>
            <a:off x="7772400" y="1481328"/>
            <a:ext cx="3867912" cy="2057400"/>
          </a:xfrm>
          <a:prstGeom prst="roundRect">
            <a:avLst>
              <a:gd name="adj" fmla="val 3556"/>
            </a:avLst>
          </a:prstGeom>
          <a:solidFill>
            <a:schemeClr val="tx2"/>
          </a:solidFill>
          <a:ln w="12700">
            <a:solidFill>
              <a:srgbClr val="28414D"/>
            </a:solidFill>
            <a:prstDash val="solid"/>
          </a:ln>
        </p:spPr>
      </p:sp>
      <p:sp>
        <p:nvSpPr>
          <p:cNvPr id="22" name="Engineer question"/>
          <p:cNvSpPr txBox="1"/>
          <p:nvPr/>
        </p:nvSpPr>
        <p:spPr>
          <a:xfrm>
            <a:off x="8001000" y="1600200"/>
            <a:ext cx="3474720" cy="1828800"/>
          </a:xfrm>
          <a:prstGeom prst="rect">
            <a:avLst/>
          </a:prstGeom>
          <a:noFill/>
          <a:ln/>
        </p:spPr>
        <p:txBody>
          <a:bodyPr wrap="square" lIns="0" tIns="0" rIns="0" bIns="0" rtlCol="0" anchor="t"/>
          <a:lstStyle/>
          <a:p>
            <a:pPr indent="0" marL="0">
              <a:spcAft>
                <a:spcPts val="600"/>
              </a:spcAft>
              <a:buNone/>
            </a:pPr>
            <a:r>
              <a:rPr lang="en-US" sz="1000" b="1" spc="150" kern="0" dirty="0">
                <a:solidFill>
                  <a:schemeClr val="accent2"/>
                </a:solidFill>
              </a:rPr>
              <a:t>THE QUESTION ENGINEERS ASK</a:t>
            </a:r>
            <a:endParaRPr lang="en-US" sz="1000" dirty="0"/>
          </a:p>
          <a:p>
            <a:pPr indent="0" marL="0">
              <a:spcAft>
                <a:spcPts val="600"/>
              </a:spcAft>
              <a:buNone/>
            </a:pPr>
            <a:r>
              <a:rPr lang="en-US" sz="1800" i="1" dirty="0">
                <a:solidFill>
                  <a:schemeClr val="bg1"/>
                </a:solidFill>
              </a:rPr>
              <a:t>What changed, how sure are we, and what should we look at first — and why?</a:t>
            </a:r>
            <a:endParaRPr lang="en-US" sz="1000" dirty="0"/>
          </a:p>
        </p:txBody>
      </p:sp>
      <p:sp>
        <p:nvSpPr>
          <p:cNvPr id="23" name="Users card"/>
          <p:cNvSpPr/>
          <p:nvPr/>
        </p:nvSpPr>
        <p:spPr>
          <a:xfrm>
            <a:off x="7772400" y="3767328"/>
            <a:ext cx="3867912" cy="2377440"/>
          </a:xfrm>
          <a:prstGeom prst="roundRect">
            <a:avLst>
              <a:gd name="adj" fmla="val 3077"/>
            </a:avLst>
          </a:prstGeom>
          <a:solidFill>
            <a:schemeClr val="tx2"/>
          </a:solidFill>
          <a:ln w="12700">
            <a:solidFill>
              <a:srgbClr val="28414D"/>
            </a:solidFill>
            <a:prstDash val="solid"/>
          </a:ln>
        </p:spPr>
      </p:sp>
      <p:sp>
        <p:nvSpPr>
          <p:cNvPr id="24" name="Users"/>
          <p:cNvSpPr txBox="1"/>
          <p:nvPr/>
        </p:nvSpPr>
        <p:spPr>
          <a:xfrm>
            <a:off x="8001000" y="3886200"/>
            <a:ext cx="3520440" cy="2148840"/>
          </a:xfrm>
          <a:prstGeom prst="rect">
            <a:avLst/>
          </a:prstGeom>
          <a:noFill/>
          <a:ln/>
        </p:spPr>
        <p:txBody>
          <a:bodyPr wrap="square" lIns="0" tIns="0" rIns="0" bIns="0" rtlCol="0" anchor="t"/>
          <a:lstStyle/>
          <a:p>
            <a:pPr indent="0" marL="0">
              <a:spcAft>
                <a:spcPts val="600"/>
              </a:spcAft>
              <a:buNone/>
            </a:pPr>
            <a:r>
              <a:rPr lang="en-US" sz="1000" b="1" spc="150" kern="0" dirty="0">
                <a:solidFill>
                  <a:schemeClr val="accent2"/>
                </a:solidFill>
              </a:rPr>
              <a:t>WHO NEEDS THE ANSWER</a:t>
            </a:r>
            <a:endParaRPr lang="en-US" sz="1000" dirty="0"/>
          </a:p>
          <a:p>
            <a:pPr marL="342900" indent="-342900">
              <a:spcAft>
                <a:spcPts val="600"/>
              </a:spcAft>
              <a:buSzPct val="100000"/>
              <a:buChar char="•"/>
            </a:pPr>
            <a:r>
              <a:rPr lang="en-US" sz="1400" dirty="0">
                <a:solidFill>
                  <a:schemeClr val="bg1"/>
                </a:solidFill>
              </a:rPr>
              <a:t>Pipeline Integrity Engineer</a:t>
            </a:r>
            <a:endParaRPr lang="en-US" sz="1000" dirty="0"/>
          </a:p>
          <a:p>
            <a:pPr marL="342900" indent="-342900">
              <a:spcAft>
                <a:spcPts val="600"/>
              </a:spcAft>
              <a:buSzPct val="100000"/>
              <a:buChar char="•"/>
            </a:pPr>
            <a:r>
              <a:rPr lang="en-US" sz="1400" dirty="0">
                <a:solidFill>
                  <a:schemeClr val="bg1"/>
                </a:solidFill>
              </a:rPr>
              <a:t>Inspection Data Analyst</a:t>
            </a:r>
            <a:endParaRPr lang="en-US" sz="1000" dirty="0"/>
          </a:p>
          <a:p>
            <a:pPr marL="342900" indent="-342900">
              <a:spcAft>
                <a:spcPts val="600"/>
              </a:spcAft>
              <a:buSzPct val="100000"/>
              <a:buChar char="•"/>
            </a:pPr>
            <a:r>
              <a:rPr lang="en-US" sz="1400" dirty="0">
                <a:solidFill>
                  <a:schemeClr val="bg1"/>
                </a:solidFill>
              </a:rPr>
              <a:t>Maintenance &amp; Inspection Planner</a:t>
            </a:r>
            <a:endParaRPr lang="en-US" sz="1000" dirty="0"/>
          </a:p>
          <a:p>
            <a:pPr marL="342900" indent="-342900">
              <a:spcAft>
                <a:spcPts val="600"/>
              </a:spcAft>
              <a:buSzPct val="100000"/>
              <a:buChar char="•"/>
            </a:pPr>
            <a:r>
              <a:rPr lang="en-US" sz="1400" dirty="0">
                <a:solidFill>
                  <a:schemeClr val="bg1"/>
                </a:solidFill>
              </a:rPr>
              <a:t>Operator / Asset Integrity Manager</a:t>
            </a:r>
            <a:endParaRPr lang="en-US" sz="10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What each user needs, and the rules we set</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Problem &amp; Solution · 20</a:t>
            </a:r>
            <a:endParaRPr lang="en-US" sz="900" dirty="0"/>
          </a:p>
        </p:txBody>
      </p:sp>
      <p:sp>
        <p:nvSpPr>
          <p:cNvPr id="5" name="Needs card"/>
          <p:cNvSpPr/>
          <p:nvPr/>
        </p:nvSpPr>
        <p:spPr>
          <a:xfrm>
            <a:off x="548640" y="1371600"/>
            <a:ext cx="5760720" cy="4800600"/>
          </a:xfrm>
          <a:prstGeom prst="roundRect">
            <a:avLst>
              <a:gd name="adj" fmla="val 1524"/>
            </a:avLst>
          </a:prstGeom>
          <a:solidFill>
            <a:schemeClr val="tx2"/>
          </a:solidFill>
          <a:ln w="12700">
            <a:solidFill>
              <a:srgbClr val="28414D"/>
            </a:solidFill>
            <a:prstDash val="solid"/>
          </a:ln>
        </p:spPr>
      </p:sp>
      <p:sp>
        <p:nvSpPr>
          <p:cNvPr id="6" name="Needs heading"/>
          <p:cNvSpPr txBox="1"/>
          <p:nvPr/>
        </p:nvSpPr>
        <p:spPr>
          <a:xfrm>
            <a:off x="777240" y="1481328"/>
            <a:ext cx="5303520" cy="292608"/>
          </a:xfrm>
          <a:prstGeom prst="rect">
            <a:avLst/>
          </a:prstGeom>
          <a:noFill/>
          <a:ln/>
        </p:spPr>
        <p:txBody>
          <a:bodyPr wrap="square" lIns="0" tIns="0" rIns="0" bIns="0" rtlCol="0" anchor="ctr"/>
          <a:lstStyle/>
          <a:p>
            <a:pPr indent="0" marL="0">
              <a:buNone/>
            </a:pPr>
            <a:r>
              <a:rPr lang="en-US" sz="1000" b="1" spc="150" kern="0" dirty="0">
                <a:solidFill>
                  <a:schemeClr val="accent2"/>
                </a:solidFill>
              </a:rPr>
              <a:t>STAKEHOLDER NEEDS</a:t>
            </a:r>
            <a:endParaRPr lang="en-US" sz="1000" dirty="0"/>
          </a:p>
        </p:txBody>
      </p:sp>
      <p:sp>
        <p:nvSpPr>
          <p:cNvPr id="7" name="Need icon ring 1"/>
          <p:cNvSpPr/>
          <p:nvPr/>
        </p:nvSpPr>
        <p:spPr>
          <a:xfrm>
            <a:off x="777240" y="1975104"/>
            <a:ext cx="475488" cy="475488"/>
          </a:xfrm>
          <a:prstGeom prst="ellipse">
            <a:avLst/>
          </a:prstGeom>
          <a:solidFill>
            <a:schemeClr val="tx1"/>
          </a:solidFill>
          <a:ln w="12700">
            <a:solidFill>
              <a:srgbClr val="28B8AC"/>
            </a:solidFill>
            <a:prstDash val="solid"/>
          </a:ln>
        </p:spPr>
      </p:sp>
      <p:pic>
        <p:nvPicPr>
          <p:cNvPr id="8" name="Need icon 1" descr="preencoded.png">    </p:cNvPr>
          <p:cNvPicPr>
            <a:picLocks noChangeAspect="1"/>
          </p:cNvPicPr>
          <p:nvPr/>
        </p:nvPicPr>
        <p:blipFill>
          <a:blip r:embed="rId1"/>
          <a:stretch>
            <a:fillRect/>
          </a:stretch>
        </p:blipFill>
        <p:spPr>
          <a:xfrm>
            <a:off x="896112" y="2093976"/>
            <a:ext cx="237744" cy="237744"/>
          </a:xfrm>
          <a:prstGeom prst="rect">
            <a:avLst/>
          </a:prstGeom>
        </p:spPr>
      </p:pic>
      <p:sp>
        <p:nvSpPr>
          <p:cNvPr id="9" name="Need text 1"/>
          <p:cNvSpPr txBox="1"/>
          <p:nvPr/>
        </p:nvSpPr>
        <p:spPr>
          <a:xfrm>
            <a:off x="1417320" y="1883664"/>
            <a:ext cx="4754880" cy="868680"/>
          </a:xfrm>
          <a:prstGeom prst="rect">
            <a:avLst/>
          </a:prstGeom>
          <a:noFill/>
          <a:ln/>
        </p:spPr>
        <p:txBody>
          <a:bodyPr wrap="square" lIns="0" tIns="0" rIns="0" bIns="0" rtlCol="0" anchor="t"/>
          <a:lstStyle/>
          <a:p>
            <a:pPr indent="0" marL="0">
              <a:buNone/>
            </a:pPr>
            <a:r>
              <a:rPr lang="en-US" sz="1500" b="1" dirty="0">
                <a:solidFill>
                  <a:schemeClr val="bg1"/>
                </a:solidFill>
              </a:rPr>
              <a:t>Pipeline Integrity Engineer</a:t>
            </a:r>
            <a:endParaRPr lang="en-US" sz="1500" dirty="0"/>
          </a:p>
          <a:p>
            <a:pPr indent="0" marL="0">
              <a:buNone/>
            </a:pPr>
            <a:r>
              <a:rPr lang="en-US" sz="1300" dirty="0">
                <a:solidFill>
                  <a:schemeClr val="bg2"/>
                </a:solidFill>
              </a:rPr>
              <a:t>The evidence and reason behind each finding, and a place to record the decision</a:t>
            </a:r>
            <a:endParaRPr lang="en-US" sz="1500" dirty="0"/>
          </a:p>
        </p:txBody>
      </p:sp>
      <p:sp>
        <p:nvSpPr>
          <p:cNvPr id="10" name="Need icon ring 2"/>
          <p:cNvSpPr/>
          <p:nvPr/>
        </p:nvSpPr>
        <p:spPr>
          <a:xfrm>
            <a:off x="777240" y="3026664"/>
            <a:ext cx="475488" cy="475488"/>
          </a:xfrm>
          <a:prstGeom prst="ellipse">
            <a:avLst/>
          </a:prstGeom>
          <a:solidFill>
            <a:schemeClr val="tx1"/>
          </a:solidFill>
          <a:ln w="12700">
            <a:solidFill>
              <a:srgbClr val="28B8AC"/>
            </a:solidFill>
            <a:prstDash val="solid"/>
          </a:ln>
        </p:spPr>
      </p:sp>
      <p:pic>
        <p:nvPicPr>
          <p:cNvPr id="11" name="Need icon 2" descr="preencoded.png">    </p:cNvPr>
          <p:cNvPicPr>
            <a:picLocks noChangeAspect="1"/>
          </p:cNvPicPr>
          <p:nvPr/>
        </p:nvPicPr>
        <p:blipFill>
          <a:blip r:embed="rId2"/>
          <a:stretch>
            <a:fillRect/>
          </a:stretch>
        </p:blipFill>
        <p:spPr>
          <a:xfrm>
            <a:off x="896112" y="3145536"/>
            <a:ext cx="237744" cy="237744"/>
          </a:xfrm>
          <a:prstGeom prst="rect">
            <a:avLst/>
          </a:prstGeom>
        </p:spPr>
      </p:pic>
      <p:sp>
        <p:nvSpPr>
          <p:cNvPr id="12" name="Need text 2"/>
          <p:cNvSpPr txBox="1"/>
          <p:nvPr/>
        </p:nvSpPr>
        <p:spPr>
          <a:xfrm>
            <a:off x="1417320" y="2935224"/>
            <a:ext cx="4754880" cy="868680"/>
          </a:xfrm>
          <a:prstGeom prst="rect">
            <a:avLst/>
          </a:prstGeom>
          <a:noFill/>
          <a:ln/>
        </p:spPr>
        <p:txBody>
          <a:bodyPr wrap="square" lIns="0" tIns="0" rIns="0" bIns="0" rtlCol="0" anchor="t"/>
          <a:lstStyle/>
          <a:p>
            <a:pPr indent="0" marL="0">
              <a:buNone/>
            </a:pPr>
            <a:r>
              <a:rPr lang="en-US" sz="1500" b="1" dirty="0">
                <a:solidFill>
                  <a:schemeClr val="bg1"/>
                </a:solidFill>
              </a:rPr>
              <a:t>Inspection Data Analyst</a:t>
            </a:r>
            <a:endParaRPr lang="en-US" sz="1500" dirty="0"/>
          </a:p>
          <a:p>
            <a:pPr indent="0" marL="0">
              <a:buNone/>
            </a:pPr>
            <a:r>
              <a:rPr lang="en-US" sz="1300" dirty="0">
                <a:solidFill>
                  <a:schemeClr val="bg2"/>
                </a:solidFill>
              </a:rPr>
              <a:t>Data-quality issues, suspect measurements and uncertain matches, found early</a:t>
            </a:r>
            <a:endParaRPr lang="en-US" sz="1500" dirty="0"/>
          </a:p>
        </p:txBody>
      </p:sp>
      <p:sp>
        <p:nvSpPr>
          <p:cNvPr id="13" name="Need icon ring 3"/>
          <p:cNvSpPr/>
          <p:nvPr/>
        </p:nvSpPr>
        <p:spPr>
          <a:xfrm>
            <a:off x="777240" y="4078224"/>
            <a:ext cx="475488" cy="475488"/>
          </a:xfrm>
          <a:prstGeom prst="ellipse">
            <a:avLst/>
          </a:prstGeom>
          <a:solidFill>
            <a:schemeClr val="tx1"/>
          </a:solidFill>
          <a:ln w="12700">
            <a:solidFill>
              <a:srgbClr val="28B8AC"/>
            </a:solidFill>
            <a:prstDash val="solid"/>
          </a:ln>
        </p:spPr>
      </p:sp>
      <p:pic>
        <p:nvPicPr>
          <p:cNvPr id="14" name="Need icon 3" descr="preencoded.png">    </p:cNvPr>
          <p:cNvPicPr>
            <a:picLocks noChangeAspect="1"/>
          </p:cNvPicPr>
          <p:nvPr/>
        </p:nvPicPr>
        <p:blipFill>
          <a:blip r:embed="rId3"/>
          <a:stretch>
            <a:fillRect/>
          </a:stretch>
        </p:blipFill>
        <p:spPr>
          <a:xfrm>
            <a:off x="896112" y="4197096"/>
            <a:ext cx="237744" cy="237744"/>
          </a:xfrm>
          <a:prstGeom prst="rect">
            <a:avLst/>
          </a:prstGeom>
        </p:spPr>
      </p:pic>
      <p:sp>
        <p:nvSpPr>
          <p:cNvPr id="15" name="Need text 3"/>
          <p:cNvSpPr txBox="1"/>
          <p:nvPr/>
        </p:nvSpPr>
        <p:spPr>
          <a:xfrm>
            <a:off x="1417320" y="3986784"/>
            <a:ext cx="4754880" cy="868680"/>
          </a:xfrm>
          <a:prstGeom prst="rect">
            <a:avLst/>
          </a:prstGeom>
          <a:noFill/>
          <a:ln/>
        </p:spPr>
        <p:txBody>
          <a:bodyPr wrap="square" lIns="0" tIns="0" rIns="0" bIns="0" rtlCol="0" anchor="t"/>
          <a:lstStyle/>
          <a:p>
            <a:pPr indent="0" marL="0">
              <a:buNone/>
            </a:pPr>
            <a:r>
              <a:rPr lang="en-US" sz="1500" b="1" dirty="0">
                <a:solidFill>
                  <a:schemeClr val="bg1"/>
                </a:solidFill>
              </a:rPr>
              <a:t>Maintenance &amp; Inspection Planner</a:t>
            </a:r>
            <a:endParaRPr lang="en-US" sz="1500" dirty="0"/>
          </a:p>
          <a:p>
            <a:pPr indent="0" marL="0">
              <a:buNone/>
            </a:pPr>
            <a:r>
              <a:rPr lang="en-US" sz="1300" dirty="0">
                <a:solidFill>
                  <a:schemeClr val="bg2"/>
                </a:solidFill>
              </a:rPr>
              <a:t>Which investigations cover the most uncertainty within a budget</a:t>
            </a:r>
            <a:endParaRPr lang="en-US" sz="1500" dirty="0"/>
          </a:p>
        </p:txBody>
      </p:sp>
      <p:sp>
        <p:nvSpPr>
          <p:cNvPr id="16" name="Need icon ring 4"/>
          <p:cNvSpPr/>
          <p:nvPr/>
        </p:nvSpPr>
        <p:spPr>
          <a:xfrm>
            <a:off x="777240" y="5129784"/>
            <a:ext cx="475488" cy="475488"/>
          </a:xfrm>
          <a:prstGeom prst="ellipse">
            <a:avLst/>
          </a:prstGeom>
          <a:solidFill>
            <a:schemeClr val="tx1"/>
          </a:solidFill>
          <a:ln w="12700">
            <a:solidFill>
              <a:srgbClr val="28B8AC"/>
            </a:solidFill>
            <a:prstDash val="solid"/>
          </a:ln>
        </p:spPr>
      </p:sp>
      <p:pic>
        <p:nvPicPr>
          <p:cNvPr id="17" name="Need icon 4" descr="preencoded.png">    </p:cNvPr>
          <p:cNvPicPr>
            <a:picLocks noChangeAspect="1"/>
          </p:cNvPicPr>
          <p:nvPr/>
        </p:nvPicPr>
        <p:blipFill>
          <a:blip r:embed="rId4"/>
          <a:stretch>
            <a:fillRect/>
          </a:stretch>
        </p:blipFill>
        <p:spPr>
          <a:xfrm>
            <a:off x="896112" y="5248656"/>
            <a:ext cx="237744" cy="237744"/>
          </a:xfrm>
          <a:prstGeom prst="rect">
            <a:avLst/>
          </a:prstGeom>
        </p:spPr>
      </p:pic>
      <p:sp>
        <p:nvSpPr>
          <p:cNvPr id="18" name="Need text 4"/>
          <p:cNvSpPr txBox="1"/>
          <p:nvPr/>
        </p:nvSpPr>
        <p:spPr>
          <a:xfrm>
            <a:off x="1417320" y="5038344"/>
            <a:ext cx="4754880" cy="868680"/>
          </a:xfrm>
          <a:prstGeom prst="rect">
            <a:avLst/>
          </a:prstGeom>
          <a:noFill/>
          <a:ln/>
        </p:spPr>
        <p:txBody>
          <a:bodyPr wrap="square" lIns="0" tIns="0" rIns="0" bIns="0" rtlCol="0" anchor="t"/>
          <a:lstStyle/>
          <a:p>
            <a:pPr indent="0" marL="0">
              <a:buNone/>
            </a:pPr>
            <a:r>
              <a:rPr lang="en-US" sz="1500" b="1" dirty="0">
                <a:solidFill>
                  <a:schemeClr val="bg1"/>
                </a:solidFill>
              </a:rPr>
              <a:t>Operator / Asset Integrity Manager</a:t>
            </a:r>
            <a:endParaRPr lang="en-US" sz="1500" dirty="0"/>
          </a:p>
          <a:p>
            <a:pPr indent="0" marL="0">
              <a:buNone/>
            </a:pPr>
            <a:r>
              <a:rPr lang="en-US" sz="1300" dirty="0">
                <a:solidFill>
                  <a:schemeClr val="bg2"/>
                </a:solidFill>
              </a:rPr>
              <a:t>Review progress, open issues and a traceable record for audits</a:t>
            </a:r>
            <a:endParaRPr lang="en-US" sz="1500" dirty="0"/>
          </a:p>
        </p:txBody>
      </p:sp>
      <p:sp>
        <p:nvSpPr>
          <p:cNvPr id="19" name="Principles card"/>
          <p:cNvSpPr/>
          <p:nvPr/>
        </p:nvSpPr>
        <p:spPr>
          <a:xfrm>
            <a:off x="6583680" y="1371600"/>
            <a:ext cx="5056632" cy="4800600"/>
          </a:xfrm>
          <a:prstGeom prst="roundRect">
            <a:avLst>
              <a:gd name="adj" fmla="val 1524"/>
            </a:avLst>
          </a:prstGeom>
          <a:solidFill>
            <a:schemeClr val="tx2"/>
          </a:solidFill>
          <a:ln w="12700">
            <a:solidFill>
              <a:srgbClr val="28414D"/>
            </a:solidFill>
            <a:prstDash val="solid"/>
          </a:ln>
        </p:spPr>
      </p:sp>
      <p:sp>
        <p:nvSpPr>
          <p:cNvPr id="20" name="Principles heading"/>
          <p:cNvSpPr txBox="1"/>
          <p:nvPr/>
        </p:nvSpPr>
        <p:spPr>
          <a:xfrm>
            <a:off x="6812280" y="1481328"/>
            <a:ext cx="4663440" cy="292608"/>
          </a:xfrm>
          <a:prstGeom prst="rect">
            <a:avLst/>
          </a:prstGeom>
          <a:noFill/>
          <a:ln/>
        </p:spPr>
        <p:txBody>
          <a:bodyPr wrap="square" lIns="0" tIns="0" rIns="0" bIns="0" rtlCol="0" anchor="ctr"/>
          <a:lstStyle/>
          <a:p>
            <a:pPr indent="0" marL="0">
              <a:buNone/>
            </a:pPr>
            <a:r>
              <a:rPr lang="en-US" sz="1000" b="1" spc="150" kern="0" dirty="0">
                <a:solidFill>
                  <a:schemeClr val="accent2"/>
                </a:solidFill>
              </a:rPr>
              <a:t>DESIGN PRINCIPLES, FIXED BEFORE WE BUILT</a:t>
            </a:r>
            <a:endParaRPr lang="en-US" sz="1000" dirty="0"/>
          </a:p>
        </p:txBody>
      </p:sp>
      <p:sp>
        <p:nvSpPr>
          <p:cNvPr id="21" name="Rule num 1"/>
          <p:cNvSpPr/>
          <p:nvPr/>
        </p:nvSpPr>
        <p:spPr>
          <a:xfrm>
            <a:off x="6812280" y="1947672"/>
            <a:ext cx="365760" cy="365760"/>
          </a:xfrm>
          <a:prstGeom prst="ellipse">
            <a:avLst/>
          </a:prstGeom>
          <a:solidFill>
            <a:schemeClr val="accent3"/>
          </a:solidFill>
          <a:ln w="12700">
            <a:solidFill>
              <a:srgbClr val="28B8AC"/>
            </a:solidFill>
            <a:prstDash val="solid"/>
          </a:ln>
        </p:spPr>
      </p:sp>
      <p:sp>
        <p:nvSpPr>
          <p:cNvPr id="22" name="Rule num text 1"/>
          <p:cNvSpPr txBox="1"/>
          <p:nvPr/>
        </p:nvSpPr>
        <p:spPr>
          <a:xfrm>
            <a:off x="6812280" y="194767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3" name="Rule text 1"/>
          <p:cNvSpPr txBox="1"/>
          <p:nvPr/>
        </p:nvSpPr>
        <p:spPr>
          <a:xfrm>
            <a:off x="7315200" y="1883664"/>
            <a:ext cx="4206240" cy="731520"/>
          </a:xfrm>
          <a:prstGeom prst="rect">
            <a:avLst/>
          </a:prstGeom>
          <a:noFill/>
          <a:ln/>
        </p:spPr>
        <p:txBody>
          <a:bodyPr wrap="square" lIns="0" tIns="0" rIns="0" bIns="0" rtlCol="0" anchor="t"/>
          <a:lstStyle/>
          <a:p>
            <a:pPr indent="0" marL="0">
              <a:buNone/>
            </a:pPr>
            <a:r>
              <a:rPr lang="en-US" sz="1500" b="1" dirty="0">
                <a:solidFill>
                  <a:schemeClr val="bg1"/>
                </a:solidFill>
              </a:rPr>
              <a:t>Never alter source data</a:t>
            </a:r>
            <a:endParaRPr lang="en-US" sz="1500" dirty="0"/>
          </a:p>
          <a:p>
            <a:pPr indent="0" marL="0">
              <a:buNone/>
            </a:pPr>
            <a:r>
              <a:rPr lang="en-US" sz="1300" dirty="0">
                <a:solidFill>
                  <a:schemeClr val="bg2"/>
                </a:solidFill>
              </a:rPr>
              <a:t>Flag problems; keep every original value</a:t>
            </a:r>
            <a:endParaRPr lang="en-US" sz="1500" dirty="0"/>
          </a:p>
        </p:txBody>
      </p:sp>
      <p:sp>
        <p:nvSpPr>
          <p:cNvPr id="24" name="Rule num 2"/>
          <p:cNvSpPr/>
          <p:nvPr/>
        </p:nvSpPr>
        <p:spPr>
          <a:xfrm>
            <a:off x="6812280" y="2788920"/>
            <a:ext cx="365760" cy="365760"/>
          </a:xfrm>
          <a:prstGeom prst="ellipse">
            <a:avLst/>
          </a:prstGeom>
          <a:solidFill>
            <a:schemeClr val="accent3"/>
          </a:solidFill>
          <a:ln w="12700">
            <a:solidFill>
              <a:srgbClr val="28B8AC"/>
            </a:solidFill>
            <a:prstDash val="solid"/>
          </a:ln>
        </p:spPr>
      </p:sp>
      <p:sp>
        <p:nvSpPr>
          <p:cNvPr id="25" name="Rule num text 2"/>
          <p:cNvSpPr txBox="1"/>
          <p:nvPr/>
        </p:nvSpPr>
        <p:spPr>
          <a:xfrm>
            <a:off x="6812280" y="27889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6" name="Rule text 2"/>
          <p:cNvSpPr txBox="1"/>
          <p:nvPr/>
        </p:nvSpPr>
        <p:spPr>
          <a:xfrm>
            <a:off x="7315200" y="2724912"/>
            <a:ext cx="4206240" cy="731520"/>
          </a:xfrm>
          <a:prstGeom prst="rect">
            <a:avLst/>
          </a:prstGeom>
          <a:noFill/>
          <a:ln/>
        </p:spPr>
        <p:txBody>
          <a:bodyPr wrap="square" lIns="0" tIns="0" rIns="0" bIns="0" rtlCol="0" anchor="t"/>
          <a:lstStyle/>
          <a:p>
            <a:pPr indent="0" marL="0">
              <a:buNone/>
            </a:pPr>
            <a:r>
              <a:rPr lang="en-US" sz="1500" b="1" dirty="0">
                <a:solidFill>
                  <a:schemeClr val="bg1"/>
                </a:solidFill>
              </a:rPr>
              <a:t>Never guess identity</a:t>
            </a:r>
            <a:endParaRPr lang="en-US" sz="1500" dirty="0"/>
          </a:p>
          <a:p>
            <a:pPr indent="0" marL="0">
              <a:buNone/>
            </a:pPr>
            <a:r>
              <a:rPr lang="en-US" sz="1300" dirty="0">
                <a:solidFill>
                  <a:schemeClr val="bg2"/>
                </a:solidFill>
              </a:rPr>
              <a:t>Uncertain matches stay visible and provisional</a:t>
            </a:r>
            <a:endParaRPr lang="en-US" sz="1500" dirty="0"/>
          </a:p>
        </p:txBody>
      </p:sp>
      <p:sp>
        <p:nvSpPr>
          <p:cNvPr id="27" name="Rule num 3"/>
          <p:cNvSpPr/>
          <p:nvPr/>
        </p:nvSpPr>
        <p:spPr>
          <a:xfrm>
            <a:off x="6812280" y="3630168"/>
            <a:ext cx="365760" cy="365760"/>
          </a:xfrm>
          <a:prstGeom prst="ellipse">
            <a:avLst/>
          </a:prstGeom>
          <a:solidFill>
            <a:schemeClr val="accent3"/>
          </a:solidFill>
          <a:ln w="12700">
            <a:solidFill>
              <a:srgbClr val="28B8AC"/>
            </a:solidFill>
            <a:prstDash val="solid"/>
          </a:ln>
        </p:spPr>
      </p:sp>
      <p:sp>
        <p:nvSpPr>
          <p:cNvPr id="28" name="Rule num text 3"/>
          <p:cNvSpPr txBox="1"/>
          <p:nvPr/>
        </p:nvSpPr>
        <p:spPr>
          <a:xfrm>
            <a:off x="6812280" y="3630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9" name="Rule text 3"/>
          <p:cNvSpPr txBox="1"/>
          <p:nvPr/>
        </p:nvSpPr>
        <p:spPr>
          <a:xfrm>
            <a:off x="7315200" y="3566160"/>
            <a:ext cx="4206240" cy="731520"/>
          </a:xfrm>
          <a:prstGeom prst="rect">
            <a:avLst/>
          </a:prstGeom>
          <a:noFill/>
          <a:ln/>
        </p:spPr>
        <p:txBody>
          <a:bodyPr wrap="square" lIns="0" tIns="0" rIns="0" bIns="0" rtlCol="0" anchor="t"/>
          <a:lstStyle/>
          <a:p>
            <a:pPr indent="0" marL="0">
              <a:buNone/>
            </a:pPr>
            <a:r>
              <a:rPr lang="en-US" sz="1500" b="1" dirty="0">
                <a:solidFill>
                  <a:schemeClr val="bg1"/>
                </a:solidFill>
              </a:rPr>
              <a:t>Show uncertainty with every number</a:t>
            </a:r>
            <a:endParaRPr lang="en-US" sz="1500" dirty="0"/>
          </a:p>
          <a:p>
            <a:pPr indent="0" marL="0">
              <a:buNone/>
            </a:pPr>
            <a:r>
              <a:rPr lang="en-US" sz="1300" dirty="0">
                <a:solidFill>
                  <a:schemeClr val="bg2"/>
                </a:solidFill>
              </a:rPr>
              <a:t>And label it observed, calculated or predicted</a:t>
            </a:r>
            <a:endParaRPr lang="en-US" sz="1500" dirty="0"/>
          </a:p>
        </p:txBody>
      </p:sp>
      <p:sp>
        <p:nvSpPr>
          <p:cNvPr id="30" name="Rule num 4"/>
          <p:cNvSpPr/>
          <p:nvPr/>
        </p:nvSpPr>
        <p:spPr>
          <a:xfrm>
            <a:off x="6812280" y="4471416"/>
            <a:ext cx="365760" cy="365760"/>
          </a:xfrm>
          <a:prstGeom prst="ellipse">
            <a:avLst/>
          </a:prstGeom>
          <a:solidFill>
            <a:schemeClr val="accent3"/>
          </a:solidFill>
          <a:ln w="12700">
            <a:solidFill>
              <a:srgbClr val="28B8AC"/>
            </a:solidFill>
            <a:prstDash val="solid"/>
          </a:ln>
        </p:spPr>
      </p:sp>
      <p:sp>
        <p:nvSpPr>
          <p:cNvPr id="31" name="Rule num text 4"/>
          <p:cNvSpPr txBox="1"/>
          <p:nvPr/>
        </p:nvSpPr>
        <p:spPr>
          <a:xfrm>
            <a:off x="6812280" y="447141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2" name="Rule text 4"/>
          <p:cNvSpPr txBox="1"/>
          <p:nvPr/>
        </p:nvSpPr>
        <p:spPr>
          <a:xfrm>
            <a:off x="7315200" y="4407408"/>
            <a:ext cx="4206240" cy="731520"/>
          </a:xfrm>
          <a:prstGeom prst="rect">
            <a:avLst/>
          </a:prstGeom>
          <a:noFill/>
          <a:ln/>
        </p:spPr>
        <p:txBody>
          <a:bodyPr wrap="square" lIns="0" tIns="0" rIns="0" bIns="0" rtlCol="0" anchor="t"/>
          <a:lstStyle/>
          <a:p>
            <a:pPr indent="0" marL="0">
              <a:buNone/>
            </a:pPr>
            <a:r>
              <a:rPr lang="en-US" sz="1500" b="1" dirty="0">
                <a:solidFill>
                  <a:schemeClr val="bg1"/>
                </a:solidFill>
              </a:rPr>
              <a:t>Give every priority a written reason</a:t>
            </a:r>
            <a:endParaRPr lang="en-US" sz="1500" dirty="0"/>
          </a:p>
          <a:p>
            <a:pPr indent="0" marL="0">
              <a:buNone/>
            </a:pPr>
            <a:r>
              <a:rPr lang="en-US" sz="1300" dirty="0">
                <a:solidFill>
                  <a:schemeClr val="bg2"/>
                </a:solidFill>
              </a:rPr>
              <a:t>Named rules, not a black-box score</a:t>
            </a:r>
            <a:endParaRPr lang="en-US" sz="1500" dirty="0"/>
          </a:p>
        </p:txBody>
      </p:sp>
      <p:sp>
        <p:nvSpPr>
          <p:cNvPr id="33" name="Rule num 5"/>
          <p:cNvSpPr/>
          <p:nvPr/>
        </p:nvSpPr>
        <p:spPr>
          <a:xfrm>
            <a:off x="6812280" y="5312664"/>
            <a:ext cx="365760" cy="365760"/>
          </a:xfrm>
          <a:prstGeom prst="ellipse">
            <a:avLst/>
          </a:prstGeom>
          <a:solidFill>
            <a:schemeClr val="accent3"/>
          </a:solidFill>
          <a:ln w="12700">
            <a:solidFill>
              <a:srgbClr val="28B8AC"/>
            </a:solidFill>
            <a:prstDash val="solid"/>
          </a:ln>
        </p:spPr>
      </p:sp>
      <p:sp>
        <p:nvSpPr>
          <p:cNvPr id="34" name="Rule num text 5"/>
          <p:cNvSpPr txBox="1"/>
          <p:nvPr/>
        </p:nvSpPr>
        <p:spPr>
          <a:xfrm>
            <a:off x="6812280" y="531266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5" name="Rule text 5"/>
          <p:cNvSpPr txBox="1"/>
          <p:nvPr/>
        </p:nvSpPr>
        <p:spPr>
          <a:xfrm>
            <a:off x="7315200" y="5248656"/>
            <a:ext cx="4206240" cy="731520"/>
          </a:xfrm>
          <a:prstGeom prst="rect">
            <a:avLst/>
          </a:prstGeom>
          <a:noFill/>
          <a:ln/>
        </p:spPr>
        <p:txBody>
          <a:bodyPr wrap="square" lIns="0" tIns="0" rIns="0" bIns="0" rtlCol="0" anchor="t"/>
          <a:lstStyle/>
          <a:p>
            <a:pPr indent="0" marL="0">
              <a:buNone/>
            </a:pPr>
            <a:r>
              <a:rPr lang="en-US" sz="1500" b="1" dirty="0">
                <a:solidFill>
                  <a:schemeClr val="bg1"/>
                </a:solidFill>
              </a:rPr>
              <a:t>People decide, the system records</a:t>
            </a:r>
            <a:endParaRPr lang="en-US" sz="1500" dirty="0"/>
          </a:p>
          <a:p>
            <a:pPr indent="0" marL="0">
              <a:buNone/>
            </a:pPr>
            <a:r>
              <a:rPr lang="en-US" sz="1300" dirty="0">
                <a:solidFill>
                  <a:schemeClr val="bg2"/>
                </a:solidFill>
              </a:rPr>
              <a:t>Every decision attributed and traceable</a:t>
            </a:r>
            <a:endParaRPr lang="en-US" sz="15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Solution design in four layers</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Problem &amp; Solution · 20</a:t>
            </a:r>
            <a:endParaRPr lang="en-US" sz="900" dirty="0"/>
          </a:p>
        </p:txBody>
      </p:sp>
      <p:sp>
        <p:nvSpPr>
          <p:cNvPr id="5" name="Layer 1"/>
          <p:cNvSpPr/>
          <p:nvPr/>
        </p:nvSpPr>
        <p:spPr>
          <a:xfrm>
            <a:off x="548640" y="1371600"/>
            <a:ext cx="2542032" cy="3703320"/>
          </a:xfrm>
          <a:prstGeom prst="roundRect">
            <a:avLst>
              <a:gd name="adj" fmla="val 2878"/>
            </a:avLst>
          </a:prstGeom>
          <a:solidFill>
            <a:schemeClr val="tx2"/>
          </a:solidFill>
          <a:ln w="12700">
            <a:solidFill>
              <a:srgbClr val="28414D"/>
            </a:solidFill>
            <a:prstDash val="solid"/>
          </a:ln>
        </p:spPr>
      </p:sp>
      <p:sp>
        <p:nvSpPr>
          <p:cNvPr id="6" name="Layer heading 1"/>
          <p:cNvSpPr txBox="1"/>
          <p:nvPr/>
        </p:nvSpPr>
        <p:spPr>
          <a:xfrm>
            <a:off x="731520" y="1508760"/>
            <a:ext cx="2221992" cy="685800"/>
          </a:xfrm>
          <a:prstGeom prst="rect">
            <a:avLst/>
          </a:prstGeom>
          <a:noFill/>
          <a:ln/>
        </p:spPr>
        <p:txBody>
          <a:bodyPr wrap="square" lIns="0" tIns="0" rIns="0" bIns="0" rtlCol="0" anchor="t"/>
          <a:lstStyle/>
          <a:p>
            <a:pPr indent="0" marL="0">
              <a:buNone/>
            </a:pPr>
            <a:r>
              <a:rPr lang="en-US" sz="1000" b="1" spc="150" kern="0" dirty="0">
                <a:solidFill>
                  <a:schemeClr val="accent2"/>
                </a:solidFill>
              </a:rPr>
              <a:t>INPUT</a:t>
            </a:r>
            <a:endParaRPr lang="en-US" sz="1000" dirty="0"/>
          </a:p>
          <a:p>
            <a:pPr indent="0" marL="0">
              <a:buNone/>
            </a:pPr>
            <a:r>
              <a:rPr lang="en-US" sz="1700" b="1" dirty="0">
                <a:solidFill>
                  <a:schemeClr val="bg1"/>
                </a:solidFill>
              </a:rPr>
              <a:t>Inspection data</a:t>
            </a:r>
            <a:endParaRPr lang="en-US" sz="1000" dirty="0"/>
          </a:p>
        </p:txBody>
      </p:sp>
      <p:sp>
        <p:nvSpPr>
          <p:cNvPr id="7" name="Layer 1 item 1"/>
          <p:cNvSpPr/>
          <p:nvPr/>
        </p:nvSpPr>
        <p:spPr>
          <a:xfrm>
            <a:off x="713232" y="2331720"/>
            <a:ext cx="2212848" cy="429768"/>
          </a:xfrm>
          <a:prstGeom prst="roundRect">
            <a:avLst>
              <a:gd name="adj" fmla="val 10638"/>
            </a:avLst>
          </a:prstGeom>
          <a:solidFill>
            <a:schemeClr val="tx1"/>
          </a:solidFill>
          <a:ln w="9525">
            <a:solidFill>
              <a:srgbClr val="28414D"/>
            </a:solidFill>
            <a:prstDash val="solid"/>
          </a:ln>
        </p:spPr>
      </p:sp>
      <p:sp>
        <p:nvSpPr>
          <p:cNvPr id="8" name="Layer 1 item text 1"/>
          <p:cNvSpPr txBox="1"/>
          <p:nvPr/>
        </p:nvSpPr>
        <p:spPr>
          <a:xfrm>
            <a:off x="822960" y="2331720"/>
            <a:ext cx="2039112" cy="429768"/>
          </a:xfrm>
          <a:prstGeom prst="rect">
            <a:avLst/>
          </a:prstGeom>
          <a:noFill/>
          <a:ln/>
        </p:spPr>
        <p:txBody>
          <a:bodyPr wrap="square" lIns="0" tIns="0" rIns="0" bIns="0" rtlCol="0" anchor="ctr"/>
          <a:lstStyle/>
          <a:p>
            <a:pPr indent="0" marL="0">
              <a:buNone/>
            </a:pPr>
            <a:r>
              <a:rPr lang="en-US" sz="1200" dirty="0">
                <a:solidFill>
                  <a:schemeClr val="bg1"/>
                </a:solidFill>
              </a:rPr>
              <a:t>Two or more in-line inspection runs</a:t>
            </a:r>
            <a:endParaRPr lang="en-US" sz="1200" dirty="0"/>
          </a:p>
        </p:txBody>
      </p:sp>
      <p:sp>
        <p:nvSpPr>
          <p:cNvPr id="9" name="Layer 1 item 2"/>
          <p:cNvSpPr/>
          <p:nvPr/>
        </p:nvSpPr>
        <p:spPr>
          <a:xfrm>
            <a:off x="713232" y="2852928"/>
            <a:ext cx="2212848" cy="429768"/>
          </a:xfrm>
          <a:prstGeom prst="roundRect">
            <a:avLst>
              <a:gd name="adj" fmla="val 10638"/>
            </a:avLst>
          </a:prstGeom>
          <a:solidFill>
            <a:schemeClr val="tx1"/>
          </a:solidFill>
          <a:ln w="9525">
            <a:solidFill>
              <a:srgbClr val="28414D"/>
            </a:solidFill>
            <a:prstDash val="solid"/>
          </a:ln>
        </p:spPr>
      </p:sp>
      <p:sp>
        <p:nvSpPr>
          <p:cNvPr id="10" name="Layer 1 item text 2"/>
          <p:cNvSpPr txBox="1"/>
          <p:nvPr/>
        </p:nvSpPr>
        <p:spPr>
          <a:xfrm>
            <a:off x="822960" y="2852928"/>
            <a:ext cx="2039112" cy="429768"/>
          </a:xfrm>
          <a:prstGeom prst="rect">
            <a:avLst/>
          </a:prstGeom>
          <a:noFill/>
          <a:ln/>
        </p:spPr>
        <p:txBody>
          <a:bodyPr wrap="square" lIns="0" tIns="0" rIns="0" bIns="0" rtlCol="0" anchor="ctr"/>
          <a:lstStyle/>
          <a:p>
            <a:pPr indent="0" marL="0">
              <a:buNone/>
            </a:pPr>
            <a:r>
              <a:rPr lang="en-US" sz="1200" dirty="0">
                <a:solidFill>
                  <a:schemeClr val="bg1"/>
                </a:solidFill>
              </a:rPr>
              <a:t>CSV or Excel listings</a:t>
            </a:r>
            <a:endParaRPr lang="en-US" sz="1200" dirty="0"/>
          </a:p>
        </p:txBody>
      </p:sp>
      <p:sp>
        <p:nvSpPr>
          <p:cNvPr id="11" name="Layer 1 item 3"/>
          <p:cNvSpPr/>
          <p:nvPr/>
        </p:nvSpPr>
        <p:spPr>
          <a:xfrm>
            <a:off x="713232" y="3374136"/>
            <a:ext cx="2212848" cy="429768"/>
          </a:xfrm>
          <a:prstGeom prst="roundRect">
            <a:avLst>
              <a:gd name="adj" fmla="val 10638"/>
            </a:avLst>
          </a:prstGeom>
          <a:solidFill>
            <a:schemeClr val="tx1"/>
          </a:solidFill>
          <a:ln w="9525">
            <a:solidFill>
              <a:srgbClr val="28414D"/>
            </a:solidFill>
            <a:prstDash val="solid"/>
          </a:ln>
        </p:spPr>
      </p:sp>
      <p:sp>
        <p:nvSpPr>
          <p:cNvPr id="12" name="Layer 1 item text 3"/>
          <p:cNvSpPr txBox="1"/>
          <p:nvPr/>
        </p:nvSpPr>
        <p:spPr>
          <a:xfrm>
            <a:off x="822960" y="3374136"/>
            <a:ext cx="2039112" cy="429768"/>
          </a:xfrm>
          <a:prstGeom prst="rect">
            <a:avLst/>
          </a:prstGeom>
          <a:noFill/>
          <a:ln/>
        </p:spPr>
        <p:txBody>
          <a:bodyPr wrap="square" lIns="0" tIns="0" rIns="0" bIns="0" rtlCol="0" anchor="ctr"/>
          <a:lstStyle/>
          <a:p>
            <a:pPr indent="0" marL="0">
              <a:buNone/>
            </a:pPr>
            <a:r>
              <a:rPr lang="en-US" sz="1200" dirty="0">
                <a:solidFill>
                  <a:schemeClr val="bg1"/>
                </a:solidFill>
              </a:rPr>
              <a:t>Pipe data: wall thickness, grade, pressure</a:t>
            </a:r>
            <a:endParaRPr lang="en-US" sz="1200" dirty="0"/>
          </a:p>
        </p:txBody>
      </p:sp>
      <p:sp>
        <p:nvSpPr>
          <p:cNvPr id="13" name="Layer arrow 1"/>
          <p:cNvSpPr txBox="1"/>
          <p:nvPr/>
        </p:nvSpPr>
        <p:spPr>
          <a:xfrm>
            <a:off x="3090672" y="2994660"/>
            <a:ext cx="301752" cy="45720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14" name="Layer 2"/>
          <p:cNvSpPr/>
          <p:nvPr/>
        </p:nvSpPr>
        <p:spPr>
          <a:xfrm>
            <a:off x="3392424" y="1371600"/>
            <a:ext cx="2542032" cy="3703320"/>
          </a:xfrm>
          <a:prstGeom prst="roundRect">
            <a:avLst>
              <a:gd name="adj" fmla="val 2878"/>
            </a:avLst>
          </a:prstGeom>
          <a:solidFill>
            <a:schemeClr val="accent3">
              <a:alpha val="45000"/>
            </a:schemeClr>
          </a:solidFill>
          <a:ln w="19050">
            <a:solidFill>
              <a:srgbClr val="28B8AC"/>
            </a:solidFill>
            <a:prstDash val="solid"/>
          </a:ln>
        </p:spPr>
      </p:sp>
      <p:sp>
        <p:nvSpPr>
          <p:cNvPr id="15" name="Layer heading 2"/>
          <p:cNvSpPr txBox="1"/>
          <p:nvPr/>
        </p:nvSpPr>
        <p:spPr>
          <a:xfrm>
            <a:off x="3575304" y="1508760"/>
            <a:ext cx="2221992" cy="685800"/>
          </a:xfrm>
          <a:prstGeom prst="rect">
            <a:avLst/>
          </a:prstGeom>
          <a:noFill/>
          <a:ln/>
        </p:spPr>
        <p:txBody>
          <a:bodyPr wrap="square" lIns="0" tIns="0" rIns="0" bIns="0" rtlCol="0" anchor="t"/>
          <a:lstStyle/>
          <a:p>
            <a:pPr indent="0" marL="0">
              <a:buNone/>
            </a:pPr>
            <a:r>
              <a:rPr lang="en-US" sz="1000" b="1" spc="150" kern="0" dirty="0">
                <a:solidFill>
                  <a:schemeClr val="accent2"/>
                </a:solidFill>
              </a:rPr>
              <a:t>ANALYSIS ENGINE</a:t>
            </a:r>
            <a:endParaRPr lang="en-US" sz="1000" dirty="0"/>
          </a:p>
          <a:p>
            <a:pPr indent="0" marL="0">
              <a:buNone/>
            </a:pPr>
            <a:r>
              <a:rPr lang="en-US" sz="1700" b="1" dirty="0">
                <a:solidFill>
                  <a:schemeClr val="bg1"/>
                </a:solidFill>
              </a:rPr>
              <a:t>Evidence, step by step</a:t>
            </a:r>
            <a:endParaRPr lang="en-US" sz="1000" dirty="0"/>
          </a:p>
        </p:txBody>
      </p:sp>
      <p:sp>
        <p:nvSpPr>
          <p:cNvPr id="16" name="Layer 2 item 1"/>
          <p:cNvSpPr/>
          <p:nvPr/>
        </p:nvSpPr>
        <p:spPr>
          <a:xfrm>
            <a:off x="3557016" y="2331720"/>
            <a:ext cx="2212848" cy="429768"/>
          </a:xfrm>
          <a:prstGeom prst="roundRect">
            <a:avLst>
              <a:gd name="adj" fmla="val 10638"/>
            </a:avLst>
          </a:prstGeom>
          <a:solidFill>
            <a:schemeClr val="tx1"/>
          </a:solidFill>
          <a:ln w="9525">
            <a:solidFill>
              <a:srgbClr val="28414D"/>
            </a:solidFill>
            <a:prstDash val="solid"/>
          </a:ln>
        </p:spPr>
      </p:sp>
      <p:sp>
        <p:nvSpPr>
          <p:cNvPr id="17" name="Layer 2 item text 1"/>
          <p:cNvSpPr txBox="1"/>
          <p:nvPr/>
        </p:nvSpPr>
        <p:spPr>
          <a:xfrm>
            <a:off x="3666744" y="2331720"/>
            <a:ext cx="2039112" cy="429768"/>
          </a:xfrm>
          <a:prstGeom prst="rect">
            <a:avLst/>
          </a:prstGeom>
          <a:noFill/>
          <a:ln/>
        </p:spPr>
        <p:txBody>
          <a:bodyPr wrap="square" lIns="0" tIns="0" rIns="0" bIns="0" rtlCol="0" anchor="ctr"/>
          <a:lstStyle/>
          <a:p>
            <a:pPr indent="0" marL="0">
              <a:buNone/>
            </a:pPr>
            <a:r>
              <a:rPr lang="en-US" sz="1200" dirty="0">
                <a:solidFill>
                  <a:schemeClr val="bg1"/>
                </a:solidFill>
              </a:rPr>
              <a:t>1  Validate records</a:t>
            </a:r>
            <a:endParaRPr lang="en-US" sz="1200" dirty="0"/>
          </a:p>
        </p:txBody>
      </p:sp>
      <p:sp>
        <p:nvSpPr>
          <p:cNvPr id="18" name="Layer 2 item 2"/>
          <p:cNvSpPr/>
          <p:nvPr/>
        </p:nvSpPr>
        <p:spPr>
          <a:xfrm>
            <a:off x="3557016" y="2852928"/>
            <a:ext cx="2212848" cy="429768"/>
          </a:xfrm>
          <a:prstGeom prst="roundRect">
            <a:avLst>
              <a:gd name="adj" fmla="val 10638"/>
            </a:avLst>
          </a:prstGeom>
          <a:solidFill>
            <a:schemeClr val="tx1"/>
          </a:solidFill>
          <a:ln w="9525">
            <a:solidFill>
              <a:srgbClr val="28414D"/>
            </a:solidFill>
            <a:prstDash val="solid"/>
          </a:ln>
        </p:spPr>
      </p:sp>
      <p:sp>
        <p:nvSpPr>
          <p:cNvPr id="19" name="Layer 2 item text 2"/>
          <p:cNvSpPr txBox="1"/>
          <p:nvPr/>
        </p:nvSpPr>
        <p:spPr>
          <a:xfrm>
            <a:off x="3666744" y="2852928"/>
            <a:ext cx="2039112" cy="429768"/>
          </a:xfrm>
          <a:prstGeom prst="rect">
            <a:avLst/>
          </a:prstGeom>
          <a:noFill/>
          <a:ln/>
        </p:spPr>
        <p:txBody>
          <a:bodyPr wrap="square" lIns="0" tIns="0" rIns="0" bIns="0" rtlCol="0" anchor="ctr"/>
          <a:lstStyle/>
          <a:p>
            <a:pPr indent="0" marL="0">
              <a:buNone/>
            </a:pPr>
            <a:r>
              <a:rPr lang="en-US" sz="1200" dirty="0">
                <a:solidFill>
                  <a:schemeClr val="bg1"/>
                </a:solidFill>
              </a:rPr>
              <a:t>2  Align runs and match defects</a:t>
            </a:r>
            <a:endParaRPr lang="en-US" sz="1200" dirty="0"/>
          </a:p>
        </p:txBody>
      </p:sp>
      <p:sp>
        <p:nvSpPr>
          <p:cNvPr id="20" name="Layer 2 item 3"/>
          <p:cNvSpPr/>
          <p:nvPr/>
        </p:nvSpPr>
        <p:spPr>
          <a:xfrm>
            <a:off x="3557016" y="3374136"/>
            <a:ext cx="2212848" cy="429768"/>
          </a:xfrm>
          <a:prstGeom prst="roundRect">
            <a:avLst>
              <a:gd name="adj" fmla="val 10638"/>
            </a:avLst>
          </a:prstGeom>
          <a:solidFill>
            <a:schemeClr val="tx1"/>
          </a:solidFill>
          <a:ln w="9525">
            <a:solidFill>
              <a:srgbClr val="28414D"/>
            </a:solidFill>
            <a:prstDash val="solid"/>
          </a:ln>
        </p:spPr>
      </p:sp>
      <p:sp>
        <p:nvSpPr>
          <p:cNvPr id="21" name="Layer 2 item text 3"/>
          <p:cNvSpPr txBox="1"/>
          <p:nvPr/>
        </p:nvSpPr>
        <p:spPr>
          <a:xfrm>
            <a:off x="3666744" y="3374136"/>
            <a:ext cx="2039112" cy="429768"/>
          </a:xfrm>
          <a:prstGeom prst="rect">
            <a:avLst/>
          </a:prstGeom>
          <a:noFill/>
          <a:ln/>
        </p:spPr>
        <p:txBody>
          <a:bodyPr wrap="square" lIns="0" tIns="0" rIns="0" bIns="0" rtlCol="0" anchor="ctr"/>
          <a:lstStyle/>
          <a:p>
            <a:pPr indent="0" marL="0">
              <a:buNone/>
            </a:pPr>
            <a:r>
              <a:rPr lang="en-US" sz="1200" dirty="0">
                <a:solidFill>
                  <a:schemeClr val="bg1"/>
                </a:solidFill>
              </a:rPr>
              <a:t>3  Observed change + uncertainty</a:t>
            </a:r>
            <a:endParaRPr lang="en-US" sz="1200" dirty="0"/>
          </a:p>
        </p:txBody>
      </p:sp>
      <p:sp>
        <p:nvSpPr>
          <p:cNvPr id="22" name="Layer 2 item 4"/>
          <p:cNvSpPr/>
          <p:nvPr/>
        </p:nvSpPr>
        <p:spPr>
          <a:xfrm>
            <a:off x="3557016" y="3895344"/>
            <a:ext cx="2212848" cy="429768"/>
          </a:xfrm>
          <a:prstGeom prst="roundRect">
            <a:avLst>
              <a:gd name="adj" fmla="val 10638"/>
            </a:avLst>
          </a:prstGeom>
          <a:solidFill>
            <a:schemeClr val="tx1"/>
          </a:solidFill>
          <a:ln w="9525">
            <a:solidFill>
              <a:srgbClr val="28414D"/>
            </a:solidFill>
            <a:prstDash val="solid"/>
          </a:ln>
        </p:spPr>
      </p:sp>
      <p:sp>
        <p:nvSpPr>
          <p:cNvPr id="23" name="Layer 2 item text 4"/>
          <p:cNvSpPr txBox="1"/>
          <p:nvPr/>
        </p:nvSpPr>
        <p:spPr>
          <a:xfrm>
            <a:off x="3666744" y="3895344"/>
            <a:ext cx="2039112" cy="429768"/>
          </a:xfrm>
          <a:prstGeom prst="rect">
            <a:avLst/>
          </a:prstGeom>
          <a:noFill/>
          <a:ln/>
        </p:spPr>
        <p:txBody>
          <a:bodyPr wrap="square" lIns="0" tIns="0" rIns="0" bIns="0" rtlCol="0" anchor="ctr"/>
          <a:lstStyle/>
          <a:p>
            <a:pPr indent="0" marL="0">
              <a:buNone/>
            </a:pPr>
            <a:r>
              <a:rPr lang="en-US" sz="1200" dirty="0">
                <a:solidFill>
                  <a:schemeClr val="bg1"/>
                </a:solidFill>
              </a:rPr>
              <a:t>4  Illustrative forecast</a:t>
            </a:r>
            <a:endParaRPr lang="en-US" sz="1200" dirty="0"/>
          </a:p>
        </p:txBody>
      </p:sp>
      <p:sp>
        <p:nvSpPr>
          <p:cNvPr id="24" name="Layer 2 item 5"/>
          <p:cNvSpPr/>
          <p:nvPr/>
        </p:nvSpPr>
        <p:spPr>
          <a:xfrm>
            <a:off x="3557016" y="4416552"/>
            <a:ext cx="2212848" cy="429768"/>
          </a:xfrm>
          <a:prstGeom prst="roundRect">
            <a:avLst>
              <a:gd name="adj" fmla="val 10638"/>
            </a:avLst>
          </a:prstGeom>
          <a:solidFill>
            <a:schemeClr val="tx1"/>
          </a:solidFill>
          <a:ln w="9525">
            <a:solidFill>
              <a:srgbClr val="28414D"/>
            </a:solidFill>
            <a:prstDash val="solid"/>
          </a:ln>
        </p:spPr>
      </p:sp>
      <p:sp>
        <p:nvSpPr>
          <p:cNvPr id="25" name="Layer 2 item text 5"/>
          <p:cNvSpPr txBox="1"/>
          <p:nvPr/>
        </p:nvSpPr>
        <p:spPr>
          <a:xfrm>
            <a:off x="3666744" y="4416552"/>
            <a:ext cx="2039112" cy="429768"/>
          </a:xfrm>
          <a:prstGeom prst="rect">
            <a:avLst/>
          </a:prstGeom>
          <a:noFill/>
          <a:ln/>
        </p:spPr>
        <p:txBody>
          <a:bodyPr wrap="square" lIns="0" tIns="0" rIns="0" bIns="0" rtlCol="0" anchor="ctr"/>
          <a:lstStyle/>
          <a:p>
            <a:pPr indent="0" marL="0">
              <a:buNone/>
            </a:pPr>
            <a:r>
              <a:rPr lang="en-US" sz="1200" dirty="0">
                <a:solidFill>
                  <a:schemeClr val="bg1"/>
                </a:solidFill>
              </a:rPr>
              <a:t>5  Rule-based prioritisation</a:t>
            </a:r>
            <a:endParaRPr lang="en-US" sz="1200" dirty="0"/>
          </a:p>
        </p:txBody>
      </p:sp>
      <p:sp>
        <p:nvSpPr>
          <p:cNvPr id="26" name="Layer arrow 2"/>
          <p:cNvSpPr txBox="1"/>
          <p:nvPr/>
        </p:nvSpPr>
        <p:spPr>
          <a:xfrm>
            <a:off x="5934456" y="2994660"/>
            <a:ext cx="301752" cy="45720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27" name="Layer 3"/>
          <p:cNvSpPr/>
          <p:nvPr/>
        </p:nvSpPr>
        <p:spPr>
          <a:xfrm>
            <a:off x="6236208" y="1371600"/>
            <a:ext cx="2542032" cy="3703320"/>
          </a:xfrm>
          <a:prstGeom prst="roundRect">
            <a:avLst>
              <a:gd name="adj" fmla="val 2878"/>
            </a:avLst>
          </a:prstGeom>
          <a:solidFill>
            <a:schemeClr val="tx2"/>
          </a:solidFill>
          <a:ln w="12700">
            <a:solidFill>
              <a:srgbClr val="28414D"/>
            </a:solidFill>
            <a:prstDash val="solid"/>
          </a:ln>
        </p:spPr>
      </p:sp>
      <p:sp>
        <p:nvSpPr>
          <p:cNvPr id="28" name="Layer heading 3"/>
          <p:cNvSpPr txBox="1"/>
          <p:nvPr/>
        </p:nvSpPr>
        <p:spPr>
          <a:xfrm>
            <a:off x="6419088" y="1508760"/>
            <a:ext cx="2221992" cy="685800"/>
          </a:xfrm>
          <a:prstGeom prst="rect">
            <a:avLst/>
          </a:prstGeom>
          <a:noFill/>
          <a:ln/>
        </p:spPr>
        <p:txBody>
          <a:bodyPr wrap="square" lIns="0" tIns="0" rIns="0" bIns="0" rtlCol="0" anchor="t"/>
          <a:lstStyle/>
          <a:p>
            <a:pPr indent="0" marL="0">
              <a:buNone/>
            </a:pPr>
            <a:r>
              <a:rPr lang="en-US" sz="1000" b="1" spc="150" kern="0" dirty="0">
                <a:solidFill>
                  <a:schemeClr val="accent2"/>
                </a:solidFill>
              </a:rPr>
              <a:t>DECISION WORKFLOW</a:t>
            </a:r>
            <a:endParaRPr lang="en-US" sz="1000" dirty="0"/>
          </a:p>
          <a:p>
            <a:pPr indent="0" marL="0">
              <a:buNone/>
            </a:pPr>
            <a:r>
              <a:rPr lang="en-US" sz="1700" b="1" dirty="0">
                <a:solidFill>
                  <a:schemeClr val="bg1"/>
                </a:solidFill>
              </a:rPr>
              <a:t>People decide</a:t>
            </a:r>
            <a:endParaRPr lang="en-US" sz="1000" dirty="0"/>
          </a:p>
        </p:txBody>
      </p:sp>
      <p:sp>
        <p:nvSpPr>
          <p:cNvPr id="29" name="Layer 3 item 1"/>
          <p:cNvSpPr/>
          <p:nvPr/>
        </p:nvSpPr>
        <p:spPr>
          <a:xfrm>
            <a:off x="6400800" y="2331720"/>
            <a:ext cx="2212848" cy="429768"/>
          </a:xfrm>
          <a:prstGeom prst="roundRect">
            <a:avLst>
              <a:gd name="adj" fmla="val 10638"/>
            </a:avLst>
          </a:prstGeom>
          <a:solidFill>
            <a:schemeClr val="tx1"/>
          </a:solidFill>
          <a:ln w="9525">
            <a:solidFill>
              <a:srgbClr val="28414D"/>
            </a:solidFill>
            <a:prstDash val="solid"/>
          </a:ln>
        </p:spPr>
      </p:sp>
      <p:sp>
        <p:nvSpPr>
          <p:cNvPr id="30" name="Layer 3 item text 1"/>
          <p:cNvSpPr txBox="1"/>
          <p:nvPr/>
        </p:nvSpPr>
        <p:spPr>
          <a:xfrm>
            <a:off x="6510528" y="2331720"/>
            <a:ext cx="2039112" cy="429768"/>
          </a:xfrm>
          <a:prstGeom prst="rect">
            <a:avLst/>
          </a:prstGeom>
          <a:noFill/>
          <a:ln/>
        </p:spPr>
        <p:txBody>
          <a:bodyPr wrap="square" lIns="0" tIns="0" rIns="0" bIns="0" rtlCol="0" anchor="ctr"/>
          <a:lstStyle/>
          <a:p>
            <a:pPr indent="0" marL="0">
              <a:buNone/>
            </a:pPr>
            <a:r>
              <a:rPr lang="en-US" sz="1200" dirty="0">
                <a:solidFill>
                  <a:schemeClr val="bg1"/>
                </a:solidFill>
              </a:rPr>
              <a:t>Review workbench with reasons</a:t>
            </a:r>
            <a:endParaRPr lang="en-US" sz="1200" dirty="0"/>
          </a:p>
        </p:txBody>
      </p:sp>
      <p:sp>
        <p:nvSpPr>
          <p:cNvPr id="31" name="Layer 3 item 2"/>
          <p:cNvSpPr/>
          <p:nvPr/>
        </p:nvSpPr>
        <p:spPr>
          <a:xfrm>
            <a:off x="6400800" y="2852928"/>
            <a:ext cx="2212848" cy="429768"/>
          </a:xfrm>
          <a:prstGeom prst="roundRect">
            <a:avLst>
              <a:gd name="adj" fmla="val 10638"/>
            </a:avLst>
          </a:prstGeom>
          <a:solidFill>
            <a:schemeClr val="tx1"/>
          </a:solidFill>
          <a:ln w="9525">
            <a:solidFill>
              <a:srgbClr val="28414D"/>
            </a:solidFill>
            <a:prstDash val="solid"/>
          </a:ln>
        </p:spPr>
      </p:sp>
      <p:sp>
        <p:nvSpPr>
          <p:cNvPr id="32" name="Layer 3 item text 2"/>
          <p:cNvSpPr txBox="1"/>
          <p:nvPr/>
        </p:nvSpPr>
        <p:spPr>
          <a:xfrm>
            <a:off x="6510528" y="2852928"/>
            <a:ext cx="2039112" cy="429768"/>
          </a:xfrm>
          <a:prstGeom prst="rect">
            <a:avLst/>
          </a:prstGeom>
          <a:noFill/>
          <a:ln/>
        </p:spPr>
        <p:txBody>
          <a:bodyPr wrap="square" lIns="0" tIns="0" rIns="0" bIns="0" rtlCol="0" anchor="ctr"/>
          <a:lstStyle/>
          <a:p>
            <a:pPr indent="0" marL="0">
              <a:buNone/>
            </a:pPr>
            <a:r>
              <a:rPr lang="en-US" sz="1200" dirty="0">
                <a:solidFill>
                  <a:schemeClr val="bg1"/>
                </a:solidFill>
              </a:rPr>
              <a:t>Four roles, permission-checked</a:t>
            </a:r>
            <a:endParaRPr lang="en-US" sz="1200" dirty="0"/>
          </a:p>
        </p:txBody>
      </p:sp>
      <p:sp>
        <p:nvSpPr>
          <p:cNvPr id="33" name="Layer 3 item 3"/>
          <p:cNvSpPr/>
          <p:nvPr/>
        </p:nvSpPr>
        <p:spPr>
          <a:xfrm>
            <a:off x="6400800" y="3374136"/>
            <a:ext cx="2212848" cy="429768"/>
          </a:xfrm>
          <a:prstGeom prst="roundRect">
            <a:avLst>
              <a:gd name="adj" fmla="val 10638"/>
            </a:avLst>
          </a:prstGeom>
          <a:solidFill>
            <a:schemeClr val="tx1"/>
          </a:solidFill>
          <a:ln w="9525">
            <a:solidFill>
              <a:srgbClr val="28414D"/>
            </a:solidFill>
            <a:prstDash val="solid"/>
          </a:ln>
        </p:spPr>
      </p:sp>
      <p:sp>
        <p:nvSpPr>
          <p:cNvPr id="34" name="Layer 3 item text 3"/>
          <p:cNvSpPr txBox="1"/>
          <p:nvPr/>
        </p:nvSpPr>
        <p:spPr>
          <a:xfrm>
            <a:off x="6510528" y="3374136"/>
            <a:ext cx="2039112" cy="429768"/>
          </a:xfrm>
          <a:prstGeom prst="rect">
            <a:avLst/>
          </a:prstGeom>
          <a:noFill/>
          <a:ln/>
        </p:spPr>
        <p:txBody>
          <a:bodyPr wrap="square" lIns="0" tIns="0" rIns="0" bIns="0" rtlCol="0" anchor="ctr"/>
          <a:lstStyle/>
          <a:p>
            <a:pPr indent="0" marL="0">
              <a:buNone/>
            </a:pPr>
            <a:r>
              <a:rPr lang="en-US" sz="1200" dirty="0">
                <a:solidFill>
                  <a:schemeClr val="bg1"/>
                </a:solidFill>
              </a:rPr>
              <a:t>What-if and planning scenarios</a:t>
            </a:r>
            <a:endParaRPr lang="en-US" sz="1200" dirty="0"/>
          </a:p>
        </p:txBody>
      </p:sp>
      <p:sp>
        <p:nvSpPr>
          <p:cNvPr id="35" name="Layer arrow 3"/>
          <p:cNvSpPr txBox="1"/>
          <p:nvPr/>
        </p:nvSpPr>
        <p:spPr>
          <a:xfrm>
            <a:off x="8778240" y="2994660"/>
            <a:ext cx="301752" cy="45720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36" name="Layer 4"/>
          <p:cNvSpPr/>
          <p:nvPr/>
        </p:nvSpPr>
        <p:spPr>
          <a:xfrm>
            <a:off x="9079992" y="1371600"/>
            <a:ext cx="2542032" cy="3703320"/>
          </a:xfrm>
          <a:prstGeom prst="roundRect">
            <a:avLst>
              <a:gd name="adj" fmla="val 2878"/>
            </a:avLst>
          </a:prstGeom>
          <a:solidFill>
            <a:schemeClr val="tx2"/>
          </a:solidFill>
          <a:ln w="12700">
            <a:solidFill>
              <a:srgbClr val="28414D"/>
            </a:solidFill>
            <a:prstDash val="solid"/>
          </a:ln>
        </p:spPr>
      </p:sp>
      <p:sp>
        <p:nvSpPr>
          <p:cNvPr id="37" name="Layer heading 4"/>
          <p:cNvSpPr txBox="1"/>
          <p:nvPr/>
        </p:nvSpPr>
        <p:spPr>
          <a:xfrm>
            <a:off x="9262872" y="1508760"/>
            <a:ext cx="2221992" cy="685800"/>
          </a:xfrm>
          <a:prstGeom prst="rect">
            <a:avLst/>
          </a:prstGeom>
          <a:noFill/>
          <a:ln/>
        </p:spPr>
        <p:txBody>
          <a:bodyPr wrap="square" lIns="0" tIns="0" rIns="0" bIns="0" rtlCol="0" anchor="t"/>
          <a:lstStyle/>
          <a:p>
            <a:pPr indent="0" marL="0">
              <a:buNone/>
            </a:pPr>
            <a:r>
              <a:rPr lang="en-US" sz="1000" b="1" spc="150" kern="0" dirty="0">
                <a:solidFill>
                  <a:schemeClr val="accent2"/>
                </a:solidFill>
              </a:rPr>
              <a:t>EVIDENCE</a:t>
            </a:r>
            <a:endParaRPr lang="en-US" sz="1000" dirty="0"/>
          </a:p>
          <a:p>
            <a:pPr indent="0" marL="0">
              <a:buNone/>
            </a:pPr>
            <a:r>
              <a:rPr lang="en-US" sz="1700" b="1" dirty="0">
                <a:solidFill>
                  <a:schemeClr val="bg1"/>
                </a:solidFill>
              </a:rPr>
              <a:t>Traceable record</a:t>
            </a:r>
            <a:endParaRPr lang="en-US" sz="1000" dirty="0"/>
          </a:p>
        </p:txBody>
      </p:sp>
      <p:sp>
        <p:nvSpPr>
          <p:cNvPr id="38" name="Layer 4 item 1"/>
          <p:cNvSpPr/>
          <p:nvPr/>
        </p:nvSpPr>
        <p:spPr>
          <a:xfrm>
            <a:off x="9244584" y="2331720"/>
            <a:ext cx="2212848" cy="429768"/>
          </a:xfrm>
          <a:prstGeom prst="roundRect">
            <a:avLst>
              <a:gd name="adj" fmla="val 10638"/>
            </a:avLst>
          </a:prstGeom>
          <a:solidFill>
            <a:schemeClr val="tx1"/>
          </a:solidFill>
          <a:ln w="9525">
            <a:solidFill>
              <a:srgbClr val="28414D"/>
            </a:solidFill>
            <a:prstDash val="solid"/>
          </a:ln>
        </p:spPr>
      </p:sp>
      <p:sp>
        <p:nvSpPr>
          <p:cNvPr id="39" name="Layer 4 item text 1"/>
          <p:cNvSpPr txBox="1"/>
          <p:nvPr/>
        </p:nvSpPr>
        <p:spPr>
          <a:xfrm>
            <a:off x="9354312" y="2331720"/>
            <a:ext cx="2039112" cy="429768"/>
          </a:xfrm>
          <a:prstGeom prst="rect">
            <a:avLst/>
          </a:prstGeom>
          <a:noFill/>
          <a:ln/>
        </p:spPr>
        <p:txBody>
          <a:bodyPr wrap="square" lIns="0" tIns="0" rIns="0" bIns="0" rtlCol="0" anchor="ctr"/>
          <a:lstStyle/>
          <a:p>
            <a:pPr indent="0" marL="0">
              <a:buNone/>
            </a:pPr>
            <a:r>
              <a:rPr lang="en-US" sz="1200" dirty="0">
                <a:solidFill>
                  <a:schemeClr val="bg1"/>
                </a:solidFill>
              </a:rPr>
              <a:t>Evidence Passport (PDF + CSV)</a:t>
            </a:r>
            <a:endParaRPr lang="en-US" sz="1200" dirty="0"/>
          </a:p>
        </p:txBody>
      </p:sp>
      <p:sp>
        <p:nvSpPr>
          <p:cNvPr id="40" name="Layer 4 item 2"/>
          <p:cNvSpPr/>
          <p:nvPr/>
        </p:nvSpPr>
        <p:spPr>
          <a:xfrm>
            <a:off x="9244584" y="2852928"/>
            <a:ext cx="2212848" cy="429768"/>
          </a:xfrm>
          <a:prstGeom prst="roundRect">
            <a:avLst>
              <a:gd name="adj" fmla="val 10638"/>
            </a:avLst>
          </a:prstGeom>
          <a:solidFill>
            <a:schemeClr val="tx1"/>
          </a:solidFill>
          <a:ln w="9525">
            <a:solidFill>
              <a:srgbClr val="28414D"/>
            </a:solidFill>
            <a:prstDash val="solid"/>
          </a:ln>
        </p:spPr>
      </p:sp>
      <p:sp>
        <p:nvSpPr>
          <p:cNvPr id="41" name="Layer 4 item text 2"/>
          <p:cNvSpPr txBox="1"/>
          <p:nvPr/>
        </p:nvSpPr>
        <p:spPr>
          <a:xfrm>
            <a:off x="9354312" y="2852928"/>
            <a:ext cx="2039112" cy="429768"/>
          </a:xfrm>
          <a:prstGeom prst="rect">
            <a:avLst/>
          </a:prstGeom>
          <a:noFill/>
          <a:ln/>
        </p:spPr>
        <p:txBody>
          <a:bodyPr wrap="square" lIns="0" tIns="0" rIns="0" bIns="0" rtlCol="0" anchor="ctr"/>
          <a:lstStyle/>
          <a:p>
            <a:pPr indent="0" marL="0">
              <a:buNone/>
            </a:pPr>
            <a:r>
              <a:rPr lang="en-US" sz="1200" dirty="0">
                <a:solidFill>
                  <a:schemeClr val="bg1"/>
                </a:solidFill>
              </a:rPr>
              <a:t>Reproducible snapshots</a:t>
            </a:r>
            <a:endParaRPr lang="en-US" sz="1200" dirty="0"/>
          </a:p>
        </p:txBody>
      </p:sp>
      <p:sp>
        <p:nvSpPr>
          <p:cNvPr id="42" name="Layer 4 item 3"/>
          <p:cNvSpPr/>
          <p:nvPr/>
        </p:nvSpPr>
        <p:spPr>
          <a:xfrm>
            <a:off x="9244584" y="3374136"/>
            <a:ext cx="2212848" cy="429768"/>
          </a:xfrm>
          <a:prstGeom prst="roundRect">
            <a:avLst>
              <a:gd name="adj" fmla="val 10638"/>
            </a:avLst>
          </a:prstGeom>
          <a:solidFill>
            <a:schemeClr val="tx1"/>
          </a:solidFill>
          <a:ln w="9525">
            <a:solidFill>
              <a:srgbClr val="28414D"/>
            </a:solidFill>
            <a:prstDash val="solid"/>
          </a:ln>
        </p:spPr>
      </p:sp>
      <p:sp>
        <p:nvSpPr>
          <p:cNvPr id="43" name="Layer 4 item text 3"/>
          <p:cNvSpPr txBox="1"/>
          <p:nvPr/>
        </p:nvSpPr>
        <p:spPr>
          <a:xfrm>
            <a:off x="9354312" y="3374136"/>
            <a:ext cx="2039112" cy="429768"/>
          </a:xfrm>
          <a:prstGeom prst="rect">
            <a:avLst/>
          </a:prstGeom>
          <a:noFill/>
          <a:ln/>
        </p:spPr>
        <p:txBody>
          <a:bodyPr wrap="square" lIns="0" tIns="0" rIns="0" bIns="0" rtlCol="0" anchor="ctr"/>
          <a:lstStyle/>
          <a:p>
            <a:pPr indent="0" marL="0">
              <a:buNone/>
            </a:pPr>
            <a:r>
              <a:rPr lang="en-US" sz="1200" dirty="0">
                <a:solidFill>
                  <a:schemeClr val="bg1"/>
                </a:solidFill>
              </a:rPr>
              <a:t>User-attributed audit trail</a:t>
            </a:r>
            <a:endParaRPr lang="en-US" sz="1200" dirty="0"/>
          </a:p>
        </p:txBody>
      </p:sp>
      <p:sp>
        <p:nvSpPr>
          <p:cNvPr id="44" name="Labels band"/>
          <p:cNvSpPr/>
          <p:nvPr/>
        </p:nvSpPr>
        <p:spPr>
          <a:xfrm>
            <a:off x="548640" y="5303520"/>
            <a:ext cx="11091672" cy="868680"/>
          </a:xfrm>
          <a:prstGeom prst="roundRect">
            <a:avLst>
              <a:gd name="adj" fmla="val 8421"/>
            </a:avLst>
          </a:prstGeom>
          <a:solidFill>
            <a:schemeClr val="tx2"/>
          </a:solidFill>
          <a:ln w="12700">
            <a:solidFill>
              <a:srgbClr val="28414D"/>
            </a:solidFill>
            <a:prstDash val="solid"/>
          </a:ln>
        </p:spPr>
      </p:sp>
      <p:sp>
        <p:nvSpPr>
          <p:cNvPr id="45" name="Labels heading"/>
          <p:cNvSpPr txBox="1"/>
          <p:nvPr/>
        </p:nvSpPr>
        <p:spPr>
          <a:xfrm>
            <a:off x="777240" y="5394960"/>
            <a:ext cx="2743200" cy="685800"/>
          </a:xfrm>
          <a:prstGeom prst="rect">
            <a:avLst/>
          </a:prstGeom>
          <a:noFill/>
          <a:ln/>
        </p:spPr>
        <p:txBody>
          <a:bodyPr wrap="square" lIns="0" tIns="0" rIns="0" bIns="0" rtlCol="0" anchor="ctr"/>
          <a:lstStyle/>
          <a:p>
            <a:pPr indent="0" marL="0">
              <a:buNone/>
            </a:pPr>
            <a:r>
              <a:rPr lang="en-US" sz="1000" b="1" spc="150" kern="0" dirty="0">
                <a:solidFill>
                  <a:schemeClr val="accent2"/>
                </a:solidFill>
              </a:rPr>
              <a:t>EVERY VALUE CARRIES ITS KIND</a:t>
            </a:r>
            <a:endParaRPr lang="en-US" sz="1000" dirty="0"/>
          </a:p>
        </p:txBody>
      </p:sp>
      <p:sp>
        <p:nvSpPr>
          <p:cNvPr id="46" name="Tag OBSERVED"/>
          <p:cNvSpPr/>
          <p:nvPr/>
        </p:nvSpPr>
        <p:spPr>
          <a:xfrm>
            <a:off x="3611880" y="5596128"/>
            <a:ext cx="1463040" cy="274320"/>
          </a:xfrm>
          <a:prstGeom prst="roundRect">
            <a:avLst>
              <a:gd name="adj" fmla="val 16667"/>
            </a:avLst>
          </a:prstGeom>
          <a:solidFill>
            <a:srgbClr val="9FC3D6"/>
          </a:solidFill>
          <a:ln w="12700">
            <a:solidFill>
              <a:srgbClr val="9FC3D6"/>
            </a:solidFill>
            <a:prstDash val="solid"/>
          </a:ln>
        </p:spPr>
      </p:sp>
      <p:sp>
        <p:nvSpPr>
          <p:cNvPr id="47" name="Tag text OBSERVED"/>
          <p:cNvSpPr txBox="1"/>
          <p:nvPr/>
        </p:nvSpPr>
        <p:spPr>
          <a:xfrm>
            <a:off x="3611880" y="5596128"/>
            <a:ext cx="146304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OBSERVED</a:t>
            </a:r>
            <a:endParaRPr lang="en-US" sz="1000" dirty="0"/>
          </a:p>
        </p:txBody>
      </p:sp>
      <p:sp>
        <p:nvSpPr>
          <p:cNvPr id="48" name="Tag CALCULATED"/>
          <p:cNvSpPr/>
          <p:nvPr/>
        </p:nvSpPr>
        <p:spPr>
          <a:xfrm>
            <a:off x="5212080" y="5596128"/>
            <a:ext cx="1463040" cy="274320"/>
          </a:xfrm>
          <a:prstGeom prst="roundRect">
            <a:avLst>
              <a:gd name="adj" fmla="val 16667"/>
            </a:avLst>
          </a:prstGeom>
          <a:solidFill>
            <a:srgbClr val="45D6C5"/>
          </a:solidFill>
          <a:ln w="12700">
            <a:solidFill>
              <a:srgbClr val="45D6C5"/>
            </a:solidFill>
            <a:prstDash val="solid"/>
          </a:ln>
        </p:spPr>
      </p:sp>
      <p:sp>
        <p:nvSpPr>
          <p:cNvPr id="49" name="Tag text CALCULATED"/>
          <p:cNvSpPr txBox="1"/>
          <p:nvPr/>
        </p:nvSpPr>
        <p:spPr>
          <a:xfrm>
            <a:off x="5212080" y="5596128"/>
            <a:ext cx="146304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CALCULATED</a:t>
            </a:r>
            <a:endParaRPr lang="en-US" sz="1000" dirty="0"/>
          </a:p>
        </p:txBody>
      </p:sp>
      <p:sp>
        <p:nvSpPr>
          <p:cNvPr id="50" name="Tag UNCERTAIN"/>
          <p:cNvSpPr/>
          <p:nvPr/>
        </p:nvSpPr>
        <p:spPr>
          <a:xfrm>
            <a:off x="6812280" y="5596128"/>
            <a:ext cx="1463040" cy="274320"/>
          </a:xfrm>
          <a:prstGeom prst="roundRect">
            <a:avLst>
              <a:gd name="adj" fmla="val 16667"/>
            </a:avLst>
          </a:prstGeom>
          <a:solidFill>
            <a:srgbClr val="E8B25A"/>
          </a:solidFill>
          <a:ln w="12700">
            <a:solidFill>
              <a:srgbClr val="E8B25A"/>
            </a:solidFill>
            <a:prstDash val="solid"/>
          </a:ln>
        </p:spPr>
      </p:sp>
      <p:sp>
        <p:nvSpPr>
          <p:cNvPr id="51" name="Tag text UNCERTAIN"/>
          <p:cNvSpPr txBox="1"/>
          <p:nvPr/>
        </p:nvSpPr>
        <p:spPr>
          <a:xfrm>
            <a:off x="6812280" y="5596128"/>
            <a:ext cx="146304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UNCERTAIN</a:t>
            </a:r>
            <a:endParaRPr lang="en-US" sz="1000" dirty="0"/>
          </a:p>
        </p:txBody>
      </p:sp>
      <p:sp>
        <p:nvSpPr>
          <p:cNvPr id="52" name="Tag PREDICTED"/>
          <p:cNvSpPr/>
          <p:nvPr/>
        </p:nvSpPr>
        <p:spPr>
          <a:xfrm>
            <a:off x="8412480" y="5596128"/>
            <a:ext cx="1463040" cy="274320"/>
          </a:xfrm>
          <a:prstGeom prst="roundRect">
            <a:avLst>
              <a:gd name="adj" fmla="val 16667"/>
            </a:avLst>
          </a:prstGeom>
          <a:solidFill>
            <a:srgbClr val="C7A6F2"/>
          </a:solidFill>
          <a:ln w="12700">
            <a:solidFill>
              <a:srgbClr val="C7A6F2"/>
            </a:solidFill>
            <a:prstDash val="solid"/>
          </a:ln>
        </p:spPr>
      </p:sp>
      <p:sp>
        <p:nvSpPr>
          <p:cNvPr id="53" name="Tag text PREDICTED"/>
          <p:cNvSpPr txBox="1"/>
          <p:nvPr/>
        </p:nvSpPr>
        <p:spPr>
          <a:xfrm>
            <a:off x="8412480" y="5596128"/>
            <a:ext cx="146304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PREDICTED</a:t>
            </a:r>
            <a:endParaRPr lang="en-US" sz="1000" dirty="0"/>
          </a:p>
        </p:txBody>
      </p:sp>
      <p:sp>
        <p:nvSpPr>
          <p:cNvPr id="54" name="Tag HUMAN DECISION"/>
          <p:cNvSpPr/>
          <p:nvPr/>
        </p:nvSpPr>
        <p:spPr>
          <a:xfrm>
            <a:off x="10012680" y="5596128"/>
            <a:ext cx="1463040" cy="274320"/>
          </a:xfrm>
          <a:prstGeom prst="roundRect">
            <a:avLst>
              <a:gd name="adj" fmla="val 16667"/>
            </a:avLst>
          </a:prstGeom>
          <a:solidFill>
            <a:srgbClr val="8FD48A"/>
          </a:solidFill>
          <a:ln w="12700">
            <a:solidFill>
              <a:srgbClr val="8FD48A"/>
            </a:solidFill>
            <a:prstDash val="solid"/>
          </a:ln>
        </p:spPr>
      </p:sp>
      <p:sp>
        <p:nvSpPr>
          <p:cNvPr id="55" name="Tag text HUMAN DECISION"/>
          <p:cNvSpPr txBox="1"/>
          <p:nvPr/>
        </p:nvSpPr>
        <p:spPr>
          <a:xfrm>
            <a:off x="10012680" y="5596128"/>
            <a:ext cx="146304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HUMAN DECISION</a:t>
            </a:r>
            <a:endParaRPr lang="en-US" sz="10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How we built it: our project process</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Problem &amp; Solution · 20</a:t>
            </a:r>
            <a:endParaRPr lang="en-US" sz="900" dirty="0"/>
          </a:p>
        </p:txBody>
      </p:sp>
      <p:sp>
        <p:nvSpPr>
          <p:cNvPr id="5" name="Process 1"/>
          <p:cNvSpPr/>
          <p:nvPr/>
        </p:nvSpPr>
        <p:spPr>
          <a:xfrm>
            <a:off x="548640" y="1371600"/>
            <a:ext cx="3520440" cy="1828800"/>
          </a:xfrm>
          <a:prstGeom prst="roundRect">
            <a:avLst>
              <a:gd name="adj" fmla="val 4000"/>
            </a:avLst>
          </a:prstGeom>
          <a:solidFill>
            <a:schemeClr val="tx2"/>
          </a:solidFill>
          <a:ln w="12700">
            <a:solidFill>
              <a:srgbClr val="28414D"/>
            </a:solidFill>
            <a:prstDash val="solid"/>
          </a:ln>
        </p:spPr>
      </p:sp>
      <p:sp>
        <p:nvSpPr>
          <p:cNvPr id="6" name="Process icon ring 1"/>
          <p:cNvSpPr/>
          <p:nvPr/>
        </p:nvSpPr>
        <p:spPr>
          <a:xfrm>
            <a:off x="749808" y="1572768"/>
            <a:ext cx="512064" cy="512064"/>
          </a:xfrm>
          <a:prstGeom prst="ellipse">
            <a:avLst/>
          </a:prstGeom>
          <a:solidFill>
            <a:schemeClr val="tx1"/>
          </a:solidFill>
          <a:ln w="12700">
            <a:solidFill>
              <a:srgbClr val="28B8AC"/>
            </a:solidFill>
            <a:prstDash val="solid"/>
          </a:ln>
        </p:spPr>
      </p:sp>
      <p:pic>
        <p:nvPicPr>
          <p:cNvPr id="7" name="Process icon 1" descr="preencoded.png">    </p:cNvPr>
          <p:cNvPicPr>
            <a:picLocks noChangeAspect="1"/>
          </p:cNvPicPr>
          <p:nvPr/>
        </p:nvPicPr>
        <p:blipFill>
          <a:blip r:embed="rId1"/>
          <a:stretch>
            <a:fillRect/>
          </a:stretch>
        </p:blipFill>
        <p:spPr>
          <a:xfrm>
            <a:off x="877824" y="1700784"/>
            <a:ext cx="256032" cy="256032"/>
          </a:xfrm>
          <a:prstGeom prst="rect">
            <a:avLst/>
          </a:prstGeom>
        </p:spPr>
      </p:pic>
      <p:sp>
        <p:nvSpPr>
          <p:cNvPr id="8" name="Process num 1"/>
          <p:cNvSpPr txBox="1"/>
          <p:nvPr/>
        </p:nvSpPr>
        <p:spPr>
          <a:xfrm>
            <a:off x="3337560" y="1572768"/>
            <a:ext cx="548640" cy="365760"/>
          </a:xfrm>
          <a:prstGeom prst="rect">
            <a:avLst/>
          </a:prstGeom>
          <a:noFill/>
          <a:ln/>
        </p:spPr>
        <p:txBody>
          <a:bodyPr wrap="square" lIns="0" tIns="0" rIns="0" bIns="0" rtlCol="0" anchor="ctr"/>
          <a:lstStyle/>
          <a:p>
            <a:pPr algn="r" indent="0" marL="0">
              <a:buNone/>
            </a:pPr>
            <a:r>
              <a:rPr lang="en-US" sz="1800" b="1" dirty="0">
                <a:solidFill>
                  <a:schemeClr val="accent1"/>
                </a:solidFill>
              </a:rPr>
              <a:t>01</a:t>
            </a:r>
            <a:endParaRPr lang="en-US" sz="1800" dirty="0"/>
          </a:p>
        </p:txBody>
      </p:sp>
      <p:sp>
        <p:nvSpPr>
          <p:cNvPr id="9" name="Process text 1"/>
          <p:cNvSpPr txBox="1"/>
          <p:nvPr/>
        </p:nvSpPr>
        <p:spPr>
          <a:xfrm>
            <a:off x="749808" y="2212848"/>
            <a:ext cx="3154680" cy="914400"/>
          </a:xfrm>
          <a:prstGeom prst="rect">
            <a:avLst/>
          </a:prstGeom>
          <a:noFill/>
          <a:ln/>
        </p:spPr>
        <p:txBody>
          <a:bodyPr wrap="square" lIns="0" tIns="0" rIns="0" bIns="0" rtlCol="0" anchor="t"/>
          <a:lstStyle/>
          <a:p>
            <a:pPr indent="0" marL="0">
              <a:buNone/>
            </a:pPr>
            <a:r>
              <a:rPr lang="en-US" sz="1600" b="1" dirty="0">
                <a:solidFill>
                  <a:schemeClr val="bg1"/>
                </a:solidFill>
              </a:rPr>
              <a:t>Understand the domain</a:t>
            </a:r>
            <a:endParaRPr lang="en-US" sz="1600" dirty="0"/>
          </a:p>
          <a:p>
            <a:pPr indent="0" marL="0">
              <a:buNone/>
            </a:pPr>
            <a:r>
              <a:rPr lang="en-US" sz="1300" dirty="0">
                <a:solidFill>
                  <a:schemeClr val="bg2"/>
                </a:solidFill>
              </a:rPr>
              <a:t>How inspection reports record defects, and why comparing runs is hard</a:t>
            </a:r>
            <a:endParaRPr lang="en-US" sz="1600" dirty="0"/>
          </a:p>
        </p:txBody>
      </p:sp>
      <p:sp>
        <p:nvSpPr>
          <p:cNvPr id="10" name="Process 2"/>
          <p:cNvSpPr/>
          <p:nvPr/>
        </p:nvSpPr>
        <p:spPr>
          <a:xfrm>
            <a:off x="4334256" y="1371600"/>
            <a:ext cx="3520440" cy="1828800"/>
          </a:xfrm>
          <a:prstGeom prst="roundRect">
            <a:avLst>
              <a:gd name="adj" fmla="val 4000"/>
            </a:avLst>
          </a:prstGeom>
          <a:solidFill>
            <a:schemeClr val="tx2"/>
          </a:solidFill>
          <a:ln w="12700">
            <a:solidFill>
              <a:srgbClr val="28414D"/>
            </a:solidFill>
            <a:prstDash val="solid"/>
          </a:ln>
        </p:spPr>
      </p:sp>
      <p:sp>
        <p:nvSpPr>
          <p:cNvPr id="11" name="Process icon ring 2"/>
          <p:cNvSpPr/>
          <p:nvPr/>
        </p:nvSpPr>
        <p:spPr>
          <a:xfrm>
            <a:off x="4535424" y="1572768"/>
            <a:ext cx="512064" cy="512064"/>
          </a:xfrm>
          <a:prstGeom prst="ellipse">
            <a:avLst/>
          </a:prstGeom>
          <a:solidFill>
            <a:schemeClr val="tx1"/>
          </a:solidFill>
          <a:ln w="12700">
            <a:solidFill>
              <a:srgbClr val="28B8AC"/>
            </a:solidFill>
            <a:prstDash val="solid"/>
          </a:ln>
        </p:spPr>
      </p:sp>
      <p:pic>
        <p:nvPicPr>
          <p:cNvPr id="12" name="Process icon 2" descr="preencoded.png">    </p:cNvPr>
          <p:cNvPicPr>
            <a:picLocks noChangeAspect="1"/>
          </p:cNvPicPr>
          <p:nvPr/>
        </p:nvPicPr>
        <p:blipFill>
          <a:blip r:embed="rId2"/>
          <a:stretch>
            <a:fillRect/>
          </a:stretch>
        </p:blipFill>
        <p:spPr>
          <a:xfrm>
            <a:off x="4663440" y="1700784"/>
            <a:ext cx="256032" cy="256032"/>
          </a:xfrm>
          <a:prstGeom prst="rect">
            <a:avLst/>
          </a:prstGeom>
        </p:spPr>
      </p:pic>
      <p:sp>
        <p:nvSpPr>
          <p:cNvPr id="13" name="Process num 2"/>
          <p:cNvSpPr txBox="1"/>
          <p:nvPr/>
        </p:nvSpPr>
        <p:spPr>
          <a:xfrm>
            <a:off x="7123176" y="1572768"/>
            <a:ext cx="548640" cy="365760"/>
          </a:xfrm>
          <a:prstGeom prst="rect">
            <a:avLst/>
          </a:prstGeom>
          <a:noFill/>
          <a:ln/>
        </p:spPr>
        <p:txBody>
          <a:bodyPr wrap="square" lIns="0" tIns="0" rIns="0" bIns="0" rtlCol="0" anchor="ctr"/>
          <a:lstStyle/>
          <a:p>
            <a:pPr algn="r" indent="0" marL="0">
              <a:buNone/>
            </a:pPr>
            <a:r>
              <a:rPr lang="en-US" sz="1800" b="1" dirty="0">
                <a:solidFill>
                  <a:schemeClr val="accent1"/>
                </a:solidFill>
              </a:rPr>
              <a:t>02</a:t>
            </a:r>
            <a:endParaRPr lang="en-US" sz="1800" dirty="0"/>
          </a:p>
        </p:txBody>
      </p:sp>
      <p:sp>
        <p:nvSpPr>
          <p:cNvPr id="14" name="Process text 2"/>
          <p:cNvSpPr txBox="1"/>
          <p:nvPr/>
        </p:nvSpPr>
        <p:spPr>
          <a:xfrm>
            <a:off x="4535424" y="2212848"/>
            <a:ext cx="3154680" cy="914400"/>
          </a:xfrm>
          <a:prstGeom prst="rect">
            <a:avLst/>
          </a:prstGeom>
          <a:noFill/>
          <a:ln/>
        </p:spPr>
        <p:txBody>
          <a:bodyPr wrap="square" lIns="0" tIns="0" rIns="0" bIns="0" rtlCol="0" anchor="t"/>
          <a:lstStyle/>
          <a:p>
            <a:pPr indent="0" marL="0">
              <a:buNone/>
            </a:pPr>
            <a:r>
              <a:rPr lang="en-US" sz="1600" b="1" dirty="0">
                <a:solidFill>
                  <a:schemeClr val="bg1"/>
                </a:solidFill>
              </a:rPr>
              <a:t>Define requirements</a:t>
            </a:r>
            <a:endParaRPr lang="en-US" sz="1600" dirty="0"/>
          </a:p>
          <a:p>
            <a:pPr indent="0" marL="0">
              <a:buNone/>
            </a:pPr>
            <a:r>
              <a:rPr lang="en-US" sz="1300" dirty="0">
                <a:solidFill>
                  <a:schemeClr val="bg2"/>
                </a:solidFill>
              </a:rPr>
              <a:t>Stakeholder needs, design principles, and what we will not claim</a:t>
            </a:r>
            <a:endParaRPr lang="en-US" sz="1600" dirty="0"/>
          </a:p>
        </p:txBody>
      </p:sp>
      <p:sp>
        <p:nvSpPr>
          <p:cNvPr id="15" name="Process 3"/>
          <p:cNvSpPr/>
          <p:nvPr/>
        </p:nvSpPr>
        <p:spPr>
          <a:xfrm>
            <a:off x="8119872" y="1371600"/>
            <a:ext cx="3520440" cy="1828800"/>
          </a:xfrm>
          <a:prstGeom prst="roundRect">
            <a:avLst>
              <a:gd name="adj" fmla="val 4000"/>
            </a:avLst>
          </a:prstGeom>
          <a:solidFill>
            <a:schemeClr val="tx2"/>
          </a:solidFill>
          <a:ln w="12700">
            <a:solidFill>
              <a:srgbClr val="28414D"/>
            </a:solidFill>
            <a:prstDash val="solid"/>
          </a:ln>
        </p:spPr>
      </p:sp>
      <p:sp>
        <p:nvSpPr>
          <p:cNvPr id="16" name="Process icon ring 3"/>
          <p:cNvSpPr/>
          <p:nvPr/>
        </p:nvSpPr>
        <p:spPr>
          <a:xfrm>
            <a:off x="8321040" y="1572768"/>
            <a:ext cx="512064" cy="512064"/>
          </a:xfrm>
          <a:prstGeom prst="ellipse">
            <a:avLst/>
          </a:prstGeom>
          <a:solidFill>
            <a:schemeClr val="tx1"/>
          </a:solidFill>
          <a:ln w="12700">
            <a:solidFill>
              <a:srgbClr val="28B8AC"/>
            </a:solidFill>
            <a:prstDash val="solid"/>
          </a:ln>
        </p:spPr>
      </p:sp>
      <p:pic>
        <p:nvPicPr>
          <p:cNvPr id="17" name="Process icon 3" descr="preencoded.png">    </p:cNvPr>
          <p:cNvPicPr>
            <a:picLocks noChangeAspect="1"/>
          </p:cNvPicPr>
          <p:nvPr/>
        </p:nvPicPr>
        <p:blipFill>
          <a:blip r:embed="rId3"/>
          <a:stretch>
            <a:fillRect/>
          </a:stretch>
        </p:blipFill>
        <p:spPr>
          <a:xfrm>
            <a:off x="8449056" y="1700784"/>
            <a:ext cx="256032" cy="256032"/>
          </a:xfrm>
          <a:prstGeom prst="rect">
            <a:avLst/>
          </a:prstGeom>
        </p:spPr>
      </p:pic>
      <p:sp>
        <p:nvSpPr>
          <p:cNvPr id="18" name="Process num 3"/>
          <p:cNvSpPr txBox="1"/>
          <p:nvPr/>
        </p:nvSpPr>
        <p:spPr>
          <a:xfrm>
            <a:off x="10908792" y="1572768"/>
            <a:ext cx="548640" cy="365760"/>
          </a:xfrm>
          <a:prstGeom prst="rect">
            <a:avLst/>
          </a:prstGeom>
          <a:noFill/>
          <a:ln/>
        </p:spPr>
        <p:txBody>
          <a:bodyPr wrap="square" lIns="0" tIns="0" rIns="0" bIns="0" rtlCol="0" anchor="ctr"/>
          <a:lstStyle/>
          <a:p>
            <a:pPr algn="r" indent="0" marL="0">
              <a:buNone/>
            </a:pPr>
            <a:r>
              <a:rPr lang="en-US" sz="1800" b="1" dirty="0">
                <a:solidFill>
                  <a:schemeClr val="accent1"/>
                </a:solidFill>
              </a:rPr>
              <a:t>03</a:t>
            </a:r>
            <a:endParaRPr lang="en-US" sz="1800" dirty="0"/>
          </a:p>
        </p:txBody>
      </p:sp>
      <p:sp>
        <p:nvSpPr>
          <p:cNvPr id="19" name="Process text 3"/>
          <p:cNvSpPr txBox="1"/>
          <p:nvPr/>
        </p:nvSpPr>
        <p:spPr>
          <a:xfrm>
            <a:off x="8321040" y="2212848"/>
            <a:ext cx="3154680" cy="914400"/>
          </a:xfrm>
          <a:prstGeom prst="rect">
            <a:avLst/>
          </a:prstGeom>
          <a:noFill/>
          <a:ln/>
        </p:spPr>
        <p:txBody>
          <a:bodyPr wrap="square" lIns="0" tIns="0" rIns="0" bIns="0" rtlCol="0" anchor="t"/>
          <a:lstStyle/>
          <a:p>
            <a:pPr indent="0" marL="0">
              <a:buNone/>
            </a:pPr>
            <a:r>
              <a:rPr lang="en-US" sz="1600" b="1" dirty="0">
                <a:solidFill>
                  <a:schemeClr val="bg1"/>
                </a:solidFill>
              </a:rPr>
              <a:t>Design data and ground truth</a:t>
            </a:r>
            <a:endParaRPr lang="en-US" sz="1600" dirty="0"/>
          </a:p>
          <a:p>
            <a:pPr indent="0" marL="0">
              <a:buNone/>
            </a:pPr>
            <a:r>
              <a:rPr lang="en-US" sz="1300" dirty="0">
                <a:solidFill>
                  <a:schemeClr val="bg2"/>
                </a:solidFill>
              </a:rPr>
              <a:t>A data schema and a seeded synthetic pipeline with a hidden answer key</a:t>
            </a:r>
            <a:endParaRPr lang="en-US" sz="1600" dirty="0"/>
          </a:p>
        </p:txBody>
      </p:sp>
      <p:sp>
        <p:nvSpPr>
          <p:cNvPr id="20" name="Process 4"/>
          <p:cNvSpPr/>
          <p:nvPr/>
        </p:nvSpPr>
        <p:spPr>
          <a:xfrm>
            <a:off x="548640" y="3520440"/>
            <a:ext cx="3520440" cy="1828800"/>
          </a:xfrm>
          <a:prstGeom prst="roundRect">
            <a:avLst>
              <a:gd name="adj" fmla="val 4000"/>
            </a:avLst>
          </a:prstGeom>
          <a:solidFill>
            <a:schemeClr val="tx2"/>
          </a:solidFill>
          <a:ln w="12700">
            <a:solidFill>
              <a:srgbClr val="28414D"/>
            </a:solidFill>
            <a:prstDash val="solid"/>
          </a:ln>
        </p:spPr>
      </p:sp>
      <p:sp>
        <p:nvSpPr>
          <p:cNvPr id="21" name="Process icon ring 4"/>
          <p:cNvSpPr/>
          <p:nvPr/>
        </p:nvSpPr>
        <p:spPr>
          <a:xfrm>
            <a:off x="749808" y="3721608"/>
            <a:ext cx="512064" cy="512064"/>
          </a:xfrm>
          <a:prstGeom prst="ellipse">
            <a:avLst/>
          </a:prstGeom>
          <a:solidFill>
            <a:schemeClr val="tx1"/>
          </a:solidFill>
          <a:ln w="12700">
            <a:solidFill>
              <a:srgbClr val="28B8AC"/>
            </a:solidFill>
            <a:prstDash val="solid"/>
          </a:ln>
        </p:spPr>
      </p:sp>
      <p:pic>
        <p:nvPicPr>
          <p:cNvPr id="22" name="Process icon 4" descr="preencoded.png">    </p:cNvPr>
          <p:cNvPicPr>
            <a:picLocks noChangeAspect="1"/>
          </p:cNvPicPr>
          <p:nvPr/>
        </p:nvPicPr>
        <p:blipFill>
          <a:blip r:embed="rId4"/>
          <a:stretch>
            <a:fillRect/>
          </a:stretch>
        </p:blipFill>
        <p:spPr>
          <a:xfrm>
            <a:off x="877824" y="3849624"/>
            <a:ext cx="256032" cy="256032"/>
          </a:xfrm>
          <a:prstGeom prst="rect">
            <a:avLst/>
          </a:prstGeom>
        </p:spPr>
      </p:pic>
      <p:sp>
        <p:nvSpPr>
          <p:cNvPr id="23" name="Process num 4"/>
          <p:cNvSpPr txBox="1"/>
          <p:nvPr/>
        </p:nvSpPr>
        <p:spPr>
          <a:xfrm>
            <a:off x="3337560" y="3721608"/>
            <a:ext cx="548640" cy="365760"/>
          </a:xfrm>
          <a:prstGeom prst="rect">
            <a:avLst/>
          </a:prstGeom>
          <a:noFill/>
          <a:ln/>
        </p:spPr>
        <p:txBody>
          <a:bodyPr wrap="square" lIns="0" tIns="0" rIns="0" bIns="0" rtlCol="0" anchor="ctr"/>
          <a:lstStyle/>
          <a:p>
            <a:pPr algn="r" indent="0" marL="0">
              <a:buNone/>
            </a:pPr>
            <a:r>
              <a:rPr lang="en-US" sz="1800" b="1" dirty="0">
                <a:solidFill>
                  <a:schemeClr val="accent1"/>
                </a:solidFill>
              </a:rPr>
              <a:t>04</a:t>
            </a:r>
            <a:endParaRPr lang="en-US" sz="1800" dirty="0"/>
          </a:p>
        </p:txBody>
      </p:sp>
      <p:sp>
        <p:nvSpPr>
          <p:cNvPr id="24" name="Process text 4"/>
          <p:cNvSpPr txBox="1"/>
          <p:nvPr/>
        </p:nvSpPr>
        <p:spPr>
          <a:xfrm>
            <a:off x="749808" y="4361688"/>
            <a:ext cx="3154680" cy="914400"/>
          </a:xfrm>
          <a:prstGeom prst="rect">
            <a:avLst/>
          </a:prstGeom>
          <a:noFill/>
          <a:ln/>
        </p:spPr>
        <p:txBody>
          <a:bodyPr wrap="square" lIns="0" tIns="0" rIns="0" bIns="0" rtlCol="0" anchor="t"/>
          <a:lstStyle/>
          <a:p>
            <a:pPr indent="0" marL="0">
              <a:buNone/>
            </a:pPr>
            <a:r>
              <a:rPr lang="en-US" sz="1600" b="1" dirty="0">
                <a:solidFill>
                  <a:schemeClr val="bg1"/>
                </a:solidFill>
              </a:rPr>
              <a:t>Build step by step</a:t>
            </a:r>
            <a:endParaRPr lang="en-US" sz="1600" dirty="0"/>
          </a:p>
          <a:p>
            <a:pPr indent="0" marL="0">
              <a:buNone/>
            </a:pPr>
            <a:r>
              <a:rPr lang="en-US" sz="1300" dirty="0">
                <a:solidFill>
                  <a:schemeClr val="bg2"/>
                </a:solidFill>
              </a:rPr>
              <a:t>Validation, matching, growth, priority: each module with its own tests</a:t>
            </a:r>
            <a:endParaRPr lang="en-US" sz="1600" dirty="0"/>
          </a:p>
        </p:txBody>
      </p:sp>
      <p:sp>
        <p:nvSpPr>
          <p:cNvPr id="25" name="Process 5"/>
          <p:cNvSpPr/>
          <p:nvPr/>
        </p:nvSpPr>
        <p:spPr>
          <a:xfrm>
            <a:off x="4334256" y="3520440"/>
            <a:ext cx="3520440" cy="1828800"/>
          </a:xfrm>
          <a:prstGeom prst="roundRect">
            <a:avLst>
              <a:gd name="adj" fmla="val 4000"/>
            </a:avLst>
          </a:prstGeom>
          <a:solidFill>
            <a:schemeClr val="tx2"/>
          </a:solidFill>
          <a:ln w="12700">
            <a:solidFill>
              <a:srgbClr val="28414D"/>
            </a:solidFill>
            <a:prstDash val="solid"/>
          </a:ln>
        </p:spPr>
      </p:sp>
      <p:sp>
        <p:nvSpPr>
          <p:cNvPr id="26" name="Process icon ring 5"/>
          <p:cNvSpPr/>
          <p:nvPr/>
        </p:nvSpPr>
        <p:spPr>
          <a:xfrm>
            <a:off x="4535424" y="3721608"/>
            <a:ext cx="512064" cy="512064"/>
          </a:xfrm>
          <a:prstGeom prst="ellipse">
            <a:avLst/>
          </a:prstGeom>
          <a:solidFill>
            <a:schemeClr val="tx1"/>
          </a:solidFill>
          <a:ln w="12700">
            <a:solidFill>
              <a:srgbClr val="28B8AC"/>
            </a:solidFill>
            <a:prstDash val="solid"/>
          </a:ln>
        </p:spPr>
      </p:sp>
      <p:pic>
        <p:nvPicPr>
          <p:cNvPr id="27" name="Process icon 5" descr="preencoded.png">    </p:cNvPr>
          <p:cNvPicPr>
            <a:picLocks noChangeAspect="1"/>
          </p:cNvPicPr>
          <p:nvPr/>
        </p:nvPicPr>
        <p:blipFill>
          <a:blip r:embed="rId5"/>
          <a:stretch>
            <a:fillRect/>
          </a:stretch>
        </p:blipFill>
        <p:spPr>
          <a:xfrm>
            <a:off x="4663440" y="3849624"/>
            <a:ext cx="256032" cy="256032"/>
          </a:xfrm>
          <a:prstGeom prst="rect">
            <a:avLst/>
          </a:prstGeom>
        </p:spPr>
      </p:pic>
      <p:sp>
        <p:nvSpPr>
          <p:cNvPr id="28" name="Process num 5"/>
          <p:cNvSpPr txBox="1"/>
          <p:nvPr/>
        </p:nvSpPr>
        <p:spPr>
          <a:xfrm>
            <a:off x="7123176" y="3721608"/>
            <a:ext cx="548640" cy="365760"/>
          </a:xfrm>
          <a:prstGeom prst="rect">
            <a:avLst/>
          </a:prstGeom>
          <a:noFill/>
          <a:ln/>
        </p:spPr>
        <p:txBody>
          <a:bodyPr wrap="square" lIns="0" tIns="0" rIns="0" bIns="0" rtlCol="0" anchor="ctr"/>
          <a:lstStyle/>
          <a:p>
            <a:pPr algn="r" indent="0" marL="0">
              <a:buNone/>
            </a:pPr>
            <a:r>
              <a:rPr lang="en-US" sz="1800" b="1" dirty="0">
                <a:solidFill>
                  <a:schemeClr val="accent1"/>
                </a:solidFill>
              </a:rPr>
              <a:t>05</a:t>
            </a:r>
            <a:endParaRPr lang="en-US" sz="1800" dirty="0"/>
          </a:p>
        </p:txBody>
      </p:sp>
      <p:sp>
        <p:nvSpPr>
          <p:cNvPr id="29" name="Process text 5"/>
          <p:cNvSpPr txBox="1"/>
          <p:nvPr/>
        </p:nvSpPr>
        <p:spPr>
          <a:xfrm>
            <a:off x="4535424" y="4361688"/>
            <a:ext cx="3154680" cy="914400"/>
          </a:xfrm>
          <a:prstGeom prst="rect">
            <a:avLst/>
          </a:prstGeom>
          <a:noFill/>
          <a:ln/>
        </p:spPr>
        <p:txBody>
          <a:bodyPr wrap="square" lIns="0" tIns="0" rIns="0" bIns="0" rtlCol="0" anchor="t"/>
          <a:lstStyle/>
          <a:p>
            <a:pPr indent="0" marL="0">
              <a:buNone/>
            </a:pPr>
            <a:r>
              <a:rPr lang="en-US" sz="1600" b="1" dirty="0">
                <a:solidFill>
                  <a:schemeClr val="bg1"/>
                </a:solidFill>
              </a:rPr>
              <a:t>Validate against the truth</a:t>
            </a:r>
            <a:endParaRPr lang="en-US" sz="1600" dirty="0"/>
          </a:p>
          <a:p>
            <a:pPr indent="0" marL="0">
              <a:buNone/>
            </a:pPr>
            <a:r>
              <a:rPr lang="en-US" sz="1300" dirty="0">
                <a:solidFill>
                  <a:schemeClr val="bg2"/>
                </a:solidFill>
              </a:rPr>
              <a:t>Compare with the answer key; switch features off to test their value</a:t>
            </a:r>
            <a:endParaRPr lang="en-US" sz="1600" dirty="0"/>
          </a:p>
        </p:txBody>
      </p:sp>
      <p:sp>
        <p:nvSpPr>
          <p:cNvPr id="30" name="Process 6"/>
          <p:cNvSpPr/>
          <p:nvPr/>
        </p:nvSpPr>
        <p:spPr>
          <a:xfrm>
            <a:off x="8119872" y="3520440"/>
            <a:ext cx="3520440" cy="1828800"/>
          </a:xfrm>
          <a:prstGeom prst="roundRect">
            <a:avLst>
              <a:gd name="adj" fmla="val 4000"/>
            </a:avLst>
          </a:prstGeom>
          <a:solidFill>
            <a:schemeClr val="tx2"/>
          </a:solidFill>
          <a:ln w="12700">
            <a:solidFill>
              <a:srgbClr val="28414D"/>
            </a:solidFill>
            <a:prstDash val="solid"/>
          </a:ln>
        </p:spPr>
      </p:sp>
      <p:sp>
        <p:nvSpPr>
          <p:cNvPr id="31" name="Process icon ring 6"/>
          <p:cNvSpPr/>
          <p:nvPr/>
        </p:nvSpPr>
        <p:spPr>
          <a:xfrm>
            <a:off x="8321040" y="3721608"/>
            <a:ext cx="512064" cy="512064"/>
          </a:xfrm>
          <a:prstGeom prst="ellipse">
            <a:avLst/>
          </a:prstGeom>
          <a:solidFill>
            <a:schemeClr val="tx1"/>
          </a:solidFill>
          <a:ln w="12700">
            <a:solidFill>
              <a:srgbClr val="28B8AC"/>
            </a:solidFill>
            <a:prstDash val="solid"/>
          </a:ln>
        </p:spPr>
      </p:sp>
      <p:pic>
        <p:nvPicPr>
          <p:cNvPr id="32" name="Process icon 6" descr="preencoded.png">    </p:cNvPr>
          <p:cNvPicPr>
            <a:picLocks noChangeAspect="1"/>
          </p:cNvPicPr>
          <p:nvPr/>
        </p:nvPicPr>
        <p:blipFill>
          <a:blip r:embed="rId6"/>
          <a:stretch>
            <a:fillRect/>
          </a:stretch>
        </p:blipFill>
        <p:spPr>
          <a:xfrm>
            <a:off x="8449056" y="3849624"/>
            <a:ext cx="256032" cy="256032"/>
          </a:xfrm>
          <a:prstGeom prst="rect">
            <a:avLst/>
          </a:prstGeom>
        </p:spPr>
      </p:pic>
      <p:sp>
        <p:nvSpPr>
          <p:cNvPr id="33" name="Process num 6"/>
          <p:cNvSpPr txBox="1"/>
          <p:nvPr/>
        </p:nvSpPr>
        <p:spPr>
          <a:xfrm>
            <a:off x="10908792" y="3721608"/>
            <a:ext cx="548640" cy="365760"/>
          </a:xfrm>
          <a:prstGeom prst="rect">
            <a:avLst/>
          </a:prstGeom>
          <a:noFill/>
          <a:ln/>
        </p:spPr>
        <p:txBody>
          <a:bodyPr wrap="square" lIns="0" tIns="0" rIns="0" bIns="0" rtlCol="0" anchor="ctr"/>
          <a:lstStyle/>
          <a:p>
            <a:pPr algn="r" indent="0" marL="0">
              <a:buNone/>
            </a:pPr>
            <a:r>
              <a:rPr lang="en-US" sz="1800" b="1" dirty="0">
                <a:solidFill>
                  <a:schemeClr val="accent1"/>
                </a:solidFill>
              </a:rPr>
              <a:t>06</a:t>
            </a:r>
            <a:endParaRPr lang="en-US" sz="1800" dirty="0"/>
          </a:p>
        </p:txBody>
      </p:sp>
      <p:sp>
        <p:nvSpPr>
          <p:cNvPr id="34" name="Process text 6"/>
          <p:cNvSpPr txBox="1"/>
          <p:nvPr/>
        </p:nvSpPr>
        <p:spPr>
          <a:xfrm>
            <a:off x="8321040" y="4361688"/>
            <a:ext cx="3154680" cy="914400"/>
          </a:xfrm>
          <a:prstGeom prst="rect">
            <a:avLst/>
          </a:prstGeom>
          <a:noFill/>
          <a:ln/>
        </p:spPr>
        <p:txBody>
          <a:bodyPr wrap="square" lIns="0" tIns="0" rIns="0" bIns="0" rtlCol="0" anchor="t"/>
          <a:lstStyle/>
          <a:p>
            <a:pPr indent="0" marL="0">
              <a:buNone/>
            </a:pPr>
            <a:r>
              <a:rPr lang="en-US" sz="1600" b="1" dirty="0">
                <a:solidFill>
                  <a:schemeClr val="bg1"/>
                </a:solidFill>
              </a:rPr>
              <a:t>Add the decision layer</a:t>
            </a:r>
            <a:endParaRPr lang="en-US" sz="1600" dirty="0"/>
          </a:p>
          <a:p>
            <a:pPr indent="0" marL="0">
              <a:buNone/>
            </a:pPr>
            <a:r>
              <a:rPr lang="en-US" sz="1300" dirty="0">
                <a:solidFill>
                  <a:schemeClr val="bg2"/>
                </a:solidFill>
              </a:rPr>
              <a:t>Review workflow, roles, audit trail, Evidence Passport, 3D explanation</a:t>
            </a:r>
            <a:endParaRPr lang="en-US" sz="1600" dirty="0"/>
          </a:p>
        </p:txBody>
      </p:sp>
      <p:sp>
        <p:nvSpPr>
          <p:cNvPr id="35" name="Process note"/>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300" i="1" dirty="0">
                <a:solidFill>
                  <a:schemeClr val="accent2"/>
                </a:solidFill>
              </a:rPr>
              <a:t>Iterative: each module was tested before the next one was built on top of it.</a:t>
            </a:r>
            <a:endParaRPr lang="en-US" sz="13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How it works, step by step</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Innovation &amp; Technical · 20</a:t>
            </a:r>
            <a:endParaRPr lang="en-US" sz="900" dirty="0"/>
          </a:p>
        </p:txBody>
      </p:sp>
      <p:sp>
        <p:nvSpPr>
          <p:cNvPr id="5" name="Step number 1"/>
          <p:cNvSpPr/>
          <p:nvPr/>
        </p:nvSpPr>
        <p:spPr>
          <a:xfrm>
            <a:off x="548640" y="1435608"/>
            <a:ext cx="402336" cy="402336"/>
          </a:xfrm>
          <a:prstGeom prst="ellipse">
            <a:avLst/>
          </a:prstGeom>
          <a:solidFill>
            <a:schemeClr val="accent3"/>
          </a:solidFill>
          <a:ln w="12700">
            <a:solidFill>
              <a:srgbClr val="28B8AC"/>
            </a:solidFill>
            <a:prstDash val="solid"/>
          </a:ln>
        </p:spPr>
      </p:sp>
      <p:sp>
        <p:nvSpPr>
          <p:cNvPr id="6" name="Step number text 1"/>
          <p:cNvSpPr txBox="1"/>
          <p:nvPr/>
        </p:nvSpPr>
        <p:spPr>
          <a:xfrm>
            <a:off x="548640" y="143560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text 1"/>
          <p:cNvSpPr txBox="1"/>
          <p:nvPr/>
        </p:nvSpPr>
        <p:spPr>
          <a:xfrm>
            <a:off x="1115568" y="1371600"/>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Validate  </a:t>
            </a:r>
            <a:pPr indent="0" marL="0">
              <a:buNone/>
            </a:pPr>
            <a:r>
              <a:rPr lang="en-US" sz="1400" dirty="0">
                <a:solidFill>
                  <a:schemeClr val="bg2"/>
                </a:solidFill>
              </a:rPr>
              <a:t>Schema and range checks; records are flagged, never deleted or overwritten</a:t>
            </a:r>
            <a:endParaRPr lang="en-US" sz="1400" dirty="0"/>
          </a:p>
        </p:txBody>
      </p:sp>
      <p:sp>
        <p:nvSpPr>
          <p:cNvPr id="8" name="Step number 2"/>
          <p:cNvSpPr/>
          <p:nvPr/>
        </p:nvSpPr>
        <p:spPr>
          <a:xfrm>
            <a:off x="548640" y="2002536"/>
            <a:ext cx="402336" cy="402336"/>
          </a:xfrm>
          <a:prstGeom prst="ellipse">
            <a:avLst/>
          </a:prstGeom>
          <a:solidFill>
            <a:schemeClr val="accent3"/>
          </a:solidFill>
          <a:ln w="12700">
            <a:solidFill>
              <a:srgbClr val="28B8AC"/>
            </a:solidFill>
            <a:prstDash val="solid"/>
          </a:ln>
        </p:spPr>
      </p:sp>
      <p:sp>
        <p:nvSpPr>
          <p:cNvPr id="9" name="Step number text 2"/>
          <p:cNvSpPr txBox="1"/>
          <p:nvPr/>
        </p:nvSpPr>
        <p:spPr>
          <a:xfrm>
            <a:off x="548640" y="200253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text 2"/>
          <p:cNvSpPr txBox="1"/>
          <p:nvPr/>
        </p:nvSpPr>
        <p:spPr>
          <a:xfrm>
            <a:off x="1115568" y="1938528"/>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Align  </a:t>
            </a:r>
            <a:pPr indent="0" marL="0">
              <a:buNone/>
            </a:pPr>
            <a:r>
              <a:rPr lang="en-US" sz="1400" dirty="0">
                <a:solidFill>
                  <a:schemeClr val="bg2"/>
                </a:solidFill>
              </a:rPr>
              <a:t>Per-segment odometer offset from mutual-nearest anchor pairs</a:t>
            </a:r>
            <a:endParaRPr lang="en-US" sz="1400" dirty="0"/>
          </a:p>
        </p:txBody>
      </p:sp>
      <p:sp>
        <p:nvSpPr>
          <p:cNvPr id="11" name="Step number 3"/>
          <p:cNvSpPr/>
          <p:nvPr/>
        </p:nvSpPr>
        <p:spPr>
          <a:xfrm>
            <a:off x="548640" y="2569464"/>
            <a:ext cx="402336" cy="402336"/>
          </a:xfrm>
          <a:prstGeom prst="ellipse">
            <a:avLst/>
          </a:prstGeom>
          <a:solidFill>
            <a:schemeClr val="accent3"/>
          </a:solidFill>
          <a:ln w="12700">
            <a:solidFill>
              <a:srgbClr val="28B8AC"/>
            </a:solidFill>
            <a:prstDash val="solid"/>
          </a:ln>
        </p:spPr>
      </p:sp>
      <p:sp>
        <p:nvSpPr>
          <p:cNvPr id="12" name="Step number text 3"/>
          <p:cNvSpPr txBox="1"/>
          <p:nvPr/>
        </p:nvSpPr>
        <p:spPr>
          <a:xfrm>
            <a:off x="548640" y="256946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text 3"/>
          <p:cNvSpPr txBox="1"/>
          <p:nvPr/>
        </p:nvSpPr>
        <p:spPr>
          <a:xfrm>
            <a:off x="1115568" y="2505456"/>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Match  </a:t>
            </a:r>
            <a:pPr indent="0" marL="0">
              <a:buNone/>
            </a:pPr>
            <a:r>
              <a:rPr lang="en-US" sz="1400" dirty="0">
                <a:solidFill>
                  <a:schemeClr val="bg2"/>
                </a:solidFill>
              </a:rPr>
              <a:t>Normalised distance on position, clock and length (not depth); Hungarian one-to-one assignment</a:t>
            </a:r>
            <a:endParaRPr lang="en-US" sz="1400" dirty="0"/>
          </a:p>
        </p:txBody>
      </p:sp>
      <p:sp>
        <p:nvSpPr>
          <p:cNvPr id="14" name="Step number 4"/>
          <p:cNvSpPr/>
          <p:nvPr/>
        </p:nvSpPr>
        <p:spPr>
          <a:xfrm>
            <a:off x="548640" y="3136392"/>
            <a:ext cx="402336" cy="402336"/>
          </a:xfrm>
          <a:prstGeom prst="ellipse">
            <a:avLst/>
          </a:prstGeom>
          <a:solidFill>
            <a:schemeClr val="accent3"/>
          </a:solidFill>
          <a:ln w="12700">
            <a:solidFill>
              <a:srgbClr val="28B8AC"/>
            </a:solidFill>
            <a:prstDash val="solid"/>
          </a:ln>
        </p:spPr>
      </p:sp>
      <p:sp>
        <p:nvSpPr>
          <p:cNvPr id="15" name="Step number text 4"/>
          <p:cNvSpPr txBox="1"/>
          <p:nvPr/>
        </p:nvSpPr>
        <p:spPr>
          <a:xfrm>
            <a:off x="548640" y="313639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text 4"/>
          <p:cNvSpPr txBox="1"/>
          <p:nvPr/>
        </p:nvSpPr>
        <p:spPr>
          <a:xfrm>
            <a:off x="1115568" y="3072384"/>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Hold ambiguity  </a:t>
            </a:r>
            <a:pPr indent="0" marL="0">
              <a:buNone/>
            </a:pPr>
            <a:r>
              <a:rPr lang="en-US" sz="1400" dirty="0">
                <a:solidFill>
                  <a:schemeClr val="bg2"/>
                </a:solidFill>
              </a:rPr>
              <a:t>A competing candidate within the margin → pairing stays provisional, no forecast</a:t>
            </a:r>
            <a:endParaRPr lang="en-US" sz="1400" dirty="0"/>
          </a:p>
        </p:txBody>
      </p:sp>
      <p:sp>
        <p:nvSpPr>
          <p:cNvPr id="17" name="Step number 5"/>
          <p:cNvSpPr/>
          <p:nvPr/>
        </p:nvSpPr>
        <p:spPr>
          <a:xfrm>
            <a:off x="548640" y="3703320"/>
            <a:ext cx="402336" cy="402336"/>
          </a:xfrm>
          <a:prstGeom prst="ellipse">
            <a:avLst/>
          </a:prstGeom>
          <a:solidFill>
            <a:schemeClr val="accent3"/>
          </a:solidFill>
          <a:ln w="12700">
            <a:solidFill>
              <a:srgbClr val="28B8AC"/>
            </a:solidFill>
            <a:prstDash val="solid"/>
          </a:ln>
        </p:spPr>
      </p:sp>
      <p:sp>
        <p:nvSpPr>
          <p:cNvPr id="18" name="Step number text 5"/>
          <p:cNvSpPr txBox="1"/>
          <p:nvPr/>
        </p:nvSpPr>
        <p:spPr>
          <a:xfrm>
            <a:off x="548640" y="370332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text 5"/>
          <p:cNvSpPr txBox="1"/>
          <p:nvPr/>
        </p:nvSpPr>
        <p:spPr>
          <a:xfrm>
            <a:off x="1115568" y="3639312"/>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Observed change  </a:t>
            </a:r>
            <a:pPr indent="0" marL="0">
              <a:buNone/>
            </a:pPr>
            <a:r>
              <a:rPr lang="en-US" sz="1400" dirty="0">
                <a:solidFill>
                  <a:schemeClr val="bg2"/>
                </a:solidFill>
              </a:rPr>
              <a:t>ΔD and rate; σ = √(u₁² + u₂²); classified against ±2σ noise</a:t>
            </a:r>
            <a:endParaRPr lang="en-US" sz="1400" dirty="0"/>
          </a:p>
        </p:txBody>
      </p:sp>
      <p:sp>
        <p:nvSpPr>
          <p:cNvPr id="20" name="Step number 6"/>
          <p:cNvSpPr/>
          <p:nvPr/>
        </p:nvSpPr>
        <p:spPr>
          <a:xfrm>
            <a:off x="548640" y="4270248"/>
            <a:ext cx="402336" cy="402336"/>
          </a:xfrm>
          <a:prstGeom prst="ellipse">
            <a:avLst/>
          </a:prstGeom>
          <a:solidFill>
            <a:schemeClr val="accent3"/>
          </a:solidFill>
          <a:ln w="12700">
            <a:solidFill>
              <a:srgbClr val="28B8AC"/>
            </a:solidFill>
            <a:prstDash val="solid"/>
          </a:ln>
        </p:spPr>
      </p:sp>
      <p:sp>
        <p:nvSpPr>
          <p:cNvPr id="21" name="Step number text 6"/>
          <p:cNvSpPr txBox="1"/>
          <p:nvPr/>
        </p:nvSpPr>
        <p:spPr>
          <a:xfrm>
            <a:off x="548640" y="427024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Step text 6"/>
          <p:cNvSpPr txBox="1"/>
          <p:nvPr/>
        </p:nvSpPr>
        <p:spPr>
          <a:xfrm>
            <a:off x="1115568" y="4206240"/>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Forecast  </a:t>
            </a:r>
            <a:pPr indent="0" marL="0">
              <a:buNone/>
            </a:pPr>
            <a:r>
              <a:rPr lang="en-US" sz="1400" dirty="0">
                <a:solidFill>
                  <a:schemeClr val="bg2"/>
                </a:solidFill>
              </a:rPr>
              <a:t>Constant-rate central + upper (+2σ) scenario; optional empirical-Bayes shrinkage</a:t>
            </a:r>
            <a:endParaRPr lang="en-US" sz="1400" dirty="0"/>
          </a:p>
        </p:txBody>
      </p:sp>
      <p:sp>
        <p:nvSpPr>
          <p:cNvPr id="23" name="Step number 7"/>
          <p:cNvSpPr/>
          <p:nvPr/>
        </p:nvSpPr>
        <p:spPr>
          <a:xfrm>
            <a:off x="548640" y="4837176"/>
            <a:ext cx="402336" cy="402336"/>
          </a:xfrm>
          <a:prstGeom prst="ellipse">
            <a:avLst/>
          </a:prstGeom>
          <a:solidFill>
            <a:schemeClr val="accent3"/>
          </a:solidFill>
          <a:ln w="12700">
            <a:solidFill>
              <a:srgbClr val="28B8AC"/>
            </a:solidFill>
            <a:prstDash val="solid"/>
          </a:ln>
        </p:spPr>
      </p:sp>
      <p:sp>
        <p:nvSpPr>
          <p:cNvPr id="24" name="Step number text 7"/>
          <p:cNvSpPr txBox="1"/>
          <p:nvPr/>
        </p:nvSpPr>
        <p:spPr>
          <a:xfrm>
            <a:off x="548640" y="483717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5" name="Step text 7"/>
          <p:cNvSpPr txBox="1"/>
          <p:nvPr/>
        </p:nvSpPr>
        <p:spPr>
          <a:xfrm>
            <a:off x="1115568" y="4773168"/>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Prioritise  </a:t>
            </a:r>
            <a:pPr indent="0" marL="0">
              <a:buNone/>
            </a:pPr>
            <a:r>
              <a:rPr lang="en-US" sz="1400" dirty="0">
                <a:solidFill>
                  <a:schemeClr val="bg2"/>
                </a:solidFill>
              </a:rPr>
              <a:t>Rules C1–C5 (condition) and E1–E10 (evidence); category = the higher, with written reason</a:t>
            </a:r>
            <a:endParaRPr lang="en-US" sz="1400" dirty="0"/>
          </a:p>
        </p:txBody>
      </p:sp>
      <p:sp>
        <p:nvSpPr>
          <p:cNvPr id="26" name="Step number 8"/>
          <p:cNvSpPr/>
          <p:nvPr/>
        </p:nvSpPr>
        <p:spPr>
          <a:xfrm>
            <a:off x="548640" y="5404104"/>
            <a:ext cx="402336" cy="402336"/>
          </a:xfrm>
          <a:prstGeom prst="ellipse">
            <a:avLst/>
          </a:prstGeom>
          <a:solidFill>
            <a:schemeClr val="accent3"/>
          </a:solidFill>
          <a:ln w="12700">
            <a:solidFill>
              <a:srgbClr val="28B8AC"/>
            </a:solidFill>
            <a:prstDash val="solid"/>
          </a:ln>
        </p:spPr>
      </p:sp>
      <p:sp>
        <p:nvSpPr>
          <p:cNvPr id="27" name="Step number text 8"/>
          <p:cNvSpPr txBox="1"/>
          <p:nvPr/>
        </p:nvSpPr>
        <p:spPr>
          <a:xfrm>
            <a:off x="548640" y="540410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28" name="Step text 8"/>
          <p:cNvSpPr txBox="1"/>
          <p:nvPr/>
        </p:nvSpPr>
        <p:spPr>
          <a:xfrm>
            <a:off x="1115568" y="5340096"/>
            <a:ext cx="6355080" cy="530352"/>
          </a:xfrm>
          <a:prstGeom prst="rect">
            <a:avLst/>
          </a:prstGeom>
          <a:noFill/>
          <a:ln/>
        </p:spPr>
        <p:txBody>
          <a:bodyPr wrap="square" lIns="0" tIns="0" rIns="0" bIns="0" rtlCol="0" anchor="ctr"/>
          <a:lstStyle/>
          <a:p>
            <a:pPr indent="0" marL="0">
              <a:buNone/>
            </a:pPr>
            <a:r>
              <a:rPr lang="en-US" sz="1400" b="1" dirty="0">
                <a:solidFill>
                  <a:schemeClr val="bg1"/>
                </a:solidFill>
              </a:rPr>
              <a:t>Preserve  </a:t>
            </a:r>
            <a:pPr indent="0" marL="0">
              <a:buNone/>
            </a:pPr>
            <a:r>
              <a:rPr lang="en-US" sz="1400" dirty="0">
                <a:solidFill>
                  <a:schemeClr val="bg2"/>
                </a:solidFill>
              </a:rPr>
              <a:t>Role-checked review log, reproducible snapshots, Evidence Passport, audit trail</a:t>
            </a:r>
            <a:endParaRPr lang="en-US" sz="1400" dirty="0"/>
          </a:p>
        </p:txBody>
      </p:sp>
      <p:sp>
        <p:nvSpPr>
          <p:cNvPr id="29" name="Evidence labels card"/>
          <p:cNvSpPr/>
          <p:nvPr/>
        </p:nvSpPr>
        <p:spPr>
          <a:xfrm>
            <a:off x="7772400" y="1417320"/>
            <a:ext cx="3867912" cy="4754880"/>
          </a:xfrm>
          <a:prstGeom prst="roundRect">
            <a:avLst>
              <a:gd name="adj" fmla="val 1891"/>
            </a:avLst>
          </a:prstGeom>
          <a:solidFill>
            <a:schemeClr val="tx2"/>
          </a:solidFill>
          <a:ln w="12700">
            <a:solidFill>
              <a:srgbClr val="28414D"/>
            </a:solidFill>
            <a:prstDash val="solid"/>
          </a:ln>
        </p:spPr>
      </p:sp>
      <p:sp>
        <p:nvSpPr>
          <p:cNvPr id="30" name="Evidence labels heading"/>
          <p:cNvSpPr txBox="1"/>
          <p:nvPr/>
        </p:nvSpPr>
        <p:spPr>
          <a:xfrm>
            <a:off x="8001000" y="1517904"/>
            <a:ext cx="3474720" cy="530352"/>
          </a:xfrm>
          <a:prstGeom prst="rect">
            <a:avLst/>
          </a:prstGeom>
          <a:noFill/>
          <a:ln/>
        </p:spPr>
        <p:txBody>
          <a:bodyPr wrap="square" lIns="0" tIns="0" rIns="0" bIns="0" rtlCol="0" anchor="ctr"/>
          <a:lstStyle/>
          <a:p>
            <a:pPr indent="0" marL="0">
              <a:buNone/>
            </a:pPr>
            <a:r>
              <a:rPr lang="en-US" sz="1000" b="1" spc="150" kern="0" dirty="0">
                <a:solidFill>
                  <a:schemeClr val="accent2"/>
                </a:solidFill>
              </a:rPr>
              <a:t>EVERY VALUE CARRIES ITS KIND</a:t>
            </a:r>
            <a:endParaRPr lang="en-US" sz="1000" dirty="0"/>
          </a:p>
          <a:p>
            <a:pPr indent="0" marL="0">
              <a:buNone/>
            </a:pPr>
            <a:r>
              <a:rPr lang="en-US" sz="1300" dirty="0">
                <a:solidFill>
                  <a:schemeClr val="bg2"/>
                </a:solidFill>
              </a:rPr>
              <a:t>Finding T0177, segment S20</a:t>
            </a:r>
            <a:endParaRPr lang="en-US" sz="1000" dirty="0"/>
          </a:p>
        </p:txBody>
      </p:sp>
      <p:sp>
        <p:nvSpPr>
          <p:cNvPr id="31" name="Tag OBSERVED"/>
          <p:cNvSpPr/>
          <p:nvPr/>
        </p:nvSpPr>
        <p:spPr>
          <a:xfrm>
            <a:off x="8001000" y="2212848"/>
            <a:ext cx="1600200" cy="274320"/>
          </a:xfrm>
          <a:prstGeom prst="roundRect">
            <a:avLst>
              <a:gd name="adj" fmla="val 16667"/>
            </a:avLst>
          </a:prstGeom>
          <a:solidFill>
            <a:srgbClr val="9FC3D6"/>
          </a:solidFill>
          <a:ln w="12700">
            <a:solidFill>
              <a:srgbClr val="9FC3D6"/>
            </a:solidFill>
            <a:prstDash val="solid"/>
          </a:ln>
        </p:spPr>
      </p:sp>
      <p:sp>
        <p:nvSpPr>
          <p:cNvPr id="32" name="Tag text OBSERVED"/>
          <p:cNvSpPr txBox="1"/>
          <p:nvPr/>
        </p:nvSpPr>
        <p:spPr>
          <a:xfrm>
            <a:off x="8001000" y="2212848"/>
            <a:ext cx="160020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OBSERVED</a:t>
            </a:r>
            <a:endParaRPr lang="en-US" sz="1000" dirty="0"/>
          </a:p>
        </p:txBody>
      </p:sp>
      <p:sp>
        <p:nvSpPr>
          <p:cNvPr id="33" name="Evidence example 1"/>
          <p:cNvSpPr txBox="1"/>
          <p:nvPr/>
        </p:nvSpPr>
        <p:spPr>
          <a:xfrm>
            <a:off x="8001000" y="2514600"/>
            <a:ext cx="3474720" cy="384048"/>
          </a:xfrm>
          <a:prstGeom prst="rect">
            <a:avLst/>
          </a:prstGeom>
          <a:noFill/>
          <a:ln/>
        </p:spPr>
        <p:txBody>
          <a:bodyPr wrap="square" lIns="0" tIns="0" rIns="0" bIns="0" rtlCol="0" anchor="t"/>
          <a:lstStyle/>
          <a:p>
            <a:pPr indent="0" marL="0">
              <a:buNone/>
            </a:pPr>
            <a:r>
              <a:rPr lang="en-US" sz="1300" dirty="0">
                <a:solidFill>
                  <a:schemeClr val="bg1"/>
                </a:solidFill>
              </a:rPr>
              <a:t>Depth 3.13 mm (2016) → 6.72 mm (2023)</a:t>
            </a:r>
            <a:endParaRPr lang="en-US" sz="1300" dirty="0"/>
          </a:p>
        </p:txBody>
      </p:sp>
      <p:sp>
        <p:nvSpPr>
          <p:cNvPr id="34" name="Tag CALCULATED"/>
          <p:cNvSpPr/>
          <p:nvPr/>
        </p:nvSpPr>
        <p:spPr>
          <a:xfrm>
            <a:off x="8001000" y="2980944"/>
            <a:ext cx="1600200" cy="274320"/>
          </a:xfrm>
          <a:prstGeom prst="roundRect">
            <a:avLst>
              <a:gd name="adj" fmla="val 16667"/>
            </a:avLst>
          </a:prstGeom>
          <a:solidFill>
            <a:srgbClr val="45D6C5"/>
          </a:solidFill>
          <a:ln w="12700">
            <a:solidFill>
              <a:srgbClr val="45D6C5"/>
            </a:solidFill>
            <a:prstDash val="solid"/>
          </a:ln>
        </p:spPr>
      </p:sp>
      <p:sp>
        <p:nvSpPr>
          <p:cNvPr id="35" name="Tag text CALCULATED"/>
          <p:cNvSpPr txBox="1"/>
          <p:nvPr/>
        </p:nvSpPr>
        <p:spPr>
          <a:xfrm>
            <a:off x="8001000" y="2980944"/>
            <a:ext cx="160020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CALCULATED</a:t>
            </a:r>
            <a:endParaRPr lang="en-US" sz="1000" dirty="0"/>
          </a:p>
        </p:txBody>
      </p:sp>
      <p:sp>
        <p:nvSpPr>
          <p:cNvPr id="36" name="Evidence example 2"/>
          <p:cNvSpPr txBox="1"/>
          <p:nvPr/>
        </p:nvSpPr>
        <p:spPr>
          <a:xfrm>
            <a:off x="8001000" y="3282696"/>
            <a:ext cx="3474720" cy="384048"/>
          </a:xfrm>
          <a:prstGeom prst="rect">
            <a:avLst/>
          </a:prstGeom>
          <a:noFill/>
          <a:ln/>
        </p:spPr>
        <p:txBody>
          <a:bodyPr wrap="square" lIns="0" tIns="0" rIns="0" bIns="0" rtlCol="0" anchor="t"/>
          <a:lstStyle/>
          <a:p>
            <a:pPr indent="0" marL="0">
              <a:buNone/>
            </a:pPr>
            <a:r>
              <a:rPr lang="en-US" sz="1300" dirty="0">
                <a:solidFill>
                  <a:schemeClr val="bg1"/>
                </a:solidFill>
              </a:rPr>
              <a:t>+3.59 mm over 7.0 yr = +0.513 mm/yr</a:t>
            </a:r>
            <a:endParaRPr lang="en-US" sz="1300" dirty="0"/>
          </a:p>
        </p:txBody>
      </p:sp>
      <p:sp>
        <p:nvSpPr>
          <p:cNvPr id="37" name="Tag UNCERTAIN"/>
          <p:cNvSpPr/>
          <p:nvPr/>
        </p:nvSpPr>
        <p:spPr>
          <a:xfrm>
            <a:off x="8001000" y="3749040"/>
            <a:ext cx="1600200" cy="274320"/>
          </a:xfrm>
          <a:prstGeom prst="roundRect">
            <a:avLst>
              <a:gd name="adj" fmla="val 16667"/>
            </a:avLst>
          </a:prstGeom>
          <a:solidFill>
            <a:srgbClr val="E8B25A"/>
          </a:solidFill>
          <a:ln w="12700">
            <a:solidFill>
              <a:srgbClr val="E8B25A"/>
            </a:solidFill>
            <a:prstDash val="solid"/>
          </a:ln>
        </p:spPr>
      </p:sp>
      <p:sp>
        <p:nvSpPr>
          <p:cNvPr id="38" name="Tag text UNCERTAIN"/>
          <p:cNvSpPr txBox="1"/>
          <p:nvPr/>
        </p:nvSpPr>
        <p:spPr>
          <a:xfrm>
            <a:off x="8001000" y="3749040"/>
            <a:ext cx="160020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UNCERTAIN</a:t>
            </a:r>
            <a:endParaRPr lang="en-US" sz="1000" dirty="0"/>
          </a:p>
        </p:txBody>
      </p:sp>
      <p:sp>
        <p:nvSpPr>
          <p:cNvPr id="39" name="Evidence example 3"/>
          <p:cNvSpPr txBox="1"/>
          <p:nvPr/>
        </p:nvSpPr>
        <p:spPr>
          <a:xfrm>
            <a:off x="8001000" y="4050792"/>
            <a:ext cx="3474720" cy="384048"/>
          </a:xfrm>
          <a:prstGeom prst="rect">
            <a:avLst/>
          </a:prstGeom>
          <a:noFill/>
          <a:ln/>
        </p:spPr>
        <p:txBody>
          <a:bodyPr wrap="square" lIns="0" tIns="0" rIns="0" bIns="0" rtlCol="0" anchor="t"/>
          <a:lstStyle/>
          <a:p>
            <a:pPr indent="0" marL="0">
              <a:buNone/>
            </a:pPr>
            <a:r>
              <a:rPr lang="en-US" sz="1300" dirty="0">
                <a:solidFill>
                  <a:schemeClr val="bg1"/>
                </a:solidFill>
              </a:rPr>
              <a:t>Rate band 0.370–0.656 mm/yr (±2σ)</a:t>
            </a:r>
            <a:endParaRPr lang="en-US" sz="1300" dirty="0"/>
          </a:p>
        </p:txBody>
      </p:sp>
      <p:sp>
        <p:nvSpPr>
          <p:cNvPr id="40" name="Tag PREDICTED"/>
          <p:cNvSpPr/>
          <p:nvPr/>
        </p:nvSpPr>
        <p:spPr>
          <a:xfrm>
            <a:off x="8001000" y="4517136"/>
            <a:ext cx="1600200" cy="274320"/>
          </a:xfrm>
          <a:prstGeom prst="roundRect">
            <a:avLst>
              <a:gd name="adj" fmla="val 16667"/>
            </a:avLst>
          </a:prstGeom>
          <a:solidFill>
            <a:srgbClr val="C7A6F2"/>
          </a:solidFill>
          <a:ln w="12700">
            <a:solidFill>
              <a:srgbClr val="C7A6F2"/>
            </a:solidFill>
            <a:prstDash val="solid"/>
          </a:ln>
        </p:spPr>
      </p:sp>
      <p:sp>
        <p:nvSpPr>
          <p:cNvPr id="41" name="Tag text PREDICTED"/>
          <p:cNvSpPr txBox="1"/>
          <p:nvPr/>
        </p:nvSpPr>
        <p:spPr>
          <a:xfrm>
            <a:off x="8001000" y="4517136"/>
            <a:ext cx="160020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PREDICTED</a:t>
            </a:r>
            <a:endParaRPr lang="en-US" sz="1000" dirty="0"/>
          </a:p>
        </p:txBody>
      </p:sp>
      <p:sp>
        <p:nvSpPr>
          <p:cNvPr id="42" name="Evidence example 4"/>
          <p:cNvSpPr txBox="1"/>
          <p:nvPr/>
        </p:nvSpPr>
        <p:spPr>
          <a:xfrm>
            <a:off x="8001000" y="4818888"/>
            <a:ext cx="3474720" cy="384048"/>
          </a:xfrm>
          <a:prstGeom prst="rect">
            <a:avLst/>
          </a:prstGeom>
          <a:noFill/>
          <a:ln/>
        </p:spPr>
        <p:txBody>
          <a:bodyPr wrap="square" lIns="0" tIns="0" rIns="0" bIns="0" rtlCol="0" anchor="t"/>
          <a:lstStyle/>
          <a:p>
            <a:pPr indent="0" marL="0">
              <a:buNone/>
            </a:pPr>
            <a:r>
              <a:rPr lang="en-US" sz="1300" dirty="0">
                <a:solidFill>
                  <a:schemeClr val="bg1"/>
                </a:solidFill>
              </a:rPr>
              <a:t>9.28 mm at +5 yr, upper 10.00 mm (illustrative)</a:t>
            </a:r>
            <a:endParaRPr lang="en-US" sz="1300" dirty="0"/>
          </a:p>
        </p:txBody>
      </p:sp>
      <p:sp>
        <p:nvSpPr>
          <p:cNvPr id="43" name="Tag HUMAN DECISION"/>
          <p:cNvSpPr/>
          <p:nvPr/>
        </p:nvSpPr>
        <p:spPr>
          <a:xfrm>
            <a:off x="8001000" y="5285232"/>
            <a:ext cx="1600200" cy="274320"/>
          </a:xfrm>
          <a:prstGeom prst="roundRect">
            <a:avLst>
              <a:gd name="adj" fmla="val 16667"/>
            </a:avLst>
          </a:prstGeom>
          <a:solidFill>
            <a:srgbClr val="8FD48A"/>
          </a:solidFill>
          <a:ln w="12700">
            <a:solidFill>
              <a:srgbClr val="8FD48A"/>
            </a:solidFill>
            <a:prstDash val="solid"/>
          </a:ln>
        </p:spPr>
      </p:sp>
      <p:sp>
        <p:nvSpPr>
          <p:cNvPr id="44" name="Tag text HUMAN DECISION"/>
          <p:cNvSpPr txBox="1"/>
          <p:nvPr/>
        </p:nvSpPr>
        <p:spPr>
          <a:xfrm>
            <a:off x="8001000" y="5285232"/>
            <a:ext cx="1600200" cy="274320"/>
          </a:xfrm>
          <a:prstGeom prst="rect">
            <a:avLst/>
          </a:prstGeom>
          <a:noFill/>
          <a:ln/>
        </p:spPr>
        <p:txBody>
          <a:bodyPr wrap="square" lIns="0" tIns="0" rIns="0" bIns="0" rtlCol="0" anchor="ctr"/>
          <a:lstStyle/>
          <a:p>
            <a:pPr algn="ctr" indent="0" marL="0">
              <a:buNone/>
            </a:pPr>
            <a:r>
              <a:rPr lang="en-US" sz="1000" b="1" spc="150" kern="0" dirty="0">
                <a:solidFill>
                  <a:srgbClr val="08131F"/>
                </a:solidFill>
              </a:rPr>
              <a:t>HUMAN DECISION</a:t>
            </a:r>
            <a:endParaRPr lang="en-US" sz="1000" dirty="0"/>
          </a:p>
        </p:txBody>
      </p:sp>
      <p:sp>
        <p:nvSpPr>
          <p:cNvPr id="45" name="Evidence example 5"/>
          <p:cNvSpPr txBox="1"/>
          <p:nvPr/>
        </p:nvSpPr>
        <p:spPr>
          <a:xfrm>
            <a:off x="8001000" y="5586984"/>
            <a:ext cx="3474720" cy="384048"/>
          </a:xfrm>
          <a:prstGeom prst="rect">
            <a:avLst/>
          </a:prstGeom>
          <a:noFill/>
          <a:ln/>
        </p:spPr>
        <p:txBody>
          <a:bodyPr wrap="square" lIns="0" tIns="0" rIns="0" bIns="0" rtlCol="0" anchor="t"/>
          <a:lstStyle/>
          <a:p>
            <a:pPr indent="0" marL="0">
              <a:buNone/>
            </a:pPr>
            <a:r>
              <a:rPr lang="en-US" sz="1300" dirty="0">
                <a:solidFill>
                  <a:schemeClr val="bg1"/>
                </a:solidFill>
              </a:rPr>
              <a:t>None recorded yet: awaiting an engineer</a:t>
            </a:r>
            <a:endParaRPr lang="en-US" sz="1300" dirty="0"/>
          </a:p>
        </p:txBody>
      </p:sp>
      <p:sp>
        <p:nvSpPr>
          <p:cNvPr id="46" name="Stack"/>
          <p:cNvSpPr txBox="1"/>
          <p:nvPr/>
        </p:nvSpPr>
        <p:spPr>
          <a:xfrm>
            <a:off x="548640" y="5989320"/>
            <a:ext cx="6949440" cy="274320"/>
          </a:xfrm>
          <a:prstGeom prst="rect">
            <a:avLst/>
          </a:prstGeom>
          <a:noFill/>
          <a:ln/>
        </p:spPr>
        <p:txBody>
          <a:bodyPr wrap="square" lIns="0" tIns="0" rIns="0" bIns="0" rtlCol="0" anchor="ctr"/>
          <a:lstStyle/>
          <a:p>
            <a:pPr indent="0" marL="0">
              <a:buNone/>
            </a:pPr>
            <a:r>
              <a:rPr lang="en-US" sz="1100" dirty="0">
                <a:solidFill>
                  <a:schemeClr val="bg2"/>
                </a:solidFill>
              </a:rPr>
              <a:t>Python · pandas · SciPy · Streamlit · Plotly · ReportLab · Three.js — open source, runs on a laptop, no external AI service</a:t>
            </a:r>
            <a:endParaRPr lang="en-US" sz="11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What makes the approach different</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Innovation &amp; Technical · 20</a:t>
            </a:r>
            <a:endParaRPr lang="en-US" sz="900" dirty="0"/>
          </a:p>
        </p:txBody>
      </p:sp>
      <p:sp>
        <p:nvSpPr>
          <p:cNvPr id="5" name="Idea 1"/>
          <p:cNvSpPr/>
          <p:nvPr/>
        </p:nvSpPr>
        <p:spPr>
          <a:xfrm>
            <a:off x="548640" y="1371600"/>
            <a:ext cx="3520440" cy="2057400"/>
          </a:xfrm>
          <a:prstGeom prst="roundRect">
            <a:avLst>
              <a:gd name="adj" fmla="val 3556"/>
            </a:avLst>
          </a:prstGeom>
          <a:solidFill>
            <a:schemeClr val="tx2"/>
          </a:solidFill>
          <a:ln w="12700">
            <a:solidFill>
              <a:srgbClr val="28414D"/>
            </a:solidFill>
            <a:prstDash val="solid"/>
          </a:ln>
        </p:spPr>
      </p:sp>
      <p:sp>
        <p:nvSpPr>
          <p:cNvPr id="6" name="Idea icon ring 1"/>
          <p:cNvSpPr/>
          <p:nvPr/>
        </p:nvSpPr>
        <p:spPr>
          <a:xfrm>
            <a:off x="749808" y="1572768"/>
            <a:ext cx="512064" cy="512064"/>
          </a:xfrm>
          <a:prstGeom prst="ellipse">
            <a:avLst/>
          </a:prstGeom>
          <a:solidFill>
            <a:schemeClr val="tx1"/>
          </a:solidFill>
          <a:ln w="12700">
            <a:solidFill>
              <a:srgbClr val="45D6C5"/>
            </a:solidFill>
            <a:prstDash val="solid"/>
          </a:ln>
        </p:spPr>
      </p:sp>
      <p:pic>
        <p:nvPicPr>
          <p:cNvPr id="7" name="Idea icon 1" descr="preencoded.png">    </p:cNvPr>
          <p:cNvPicPr>
            <a:picLocks noChangeAspect="1"/>
          </p:cNvPicPr>
          <p:nvPr/>
        </p:nvPicPr>
        <p:blipFill>
          <a:blip r:embed="rId1"/>
          <a:stretch>
            <a:fillRect/>
          </a:stretch>
        </p:blipFill>
        <p:spPr>
          <a:xfrm>
            <a:off x="877824" y="1700784"/>
            <a:ext cx="256032" cy="256032"/>
          </a:xfrm>
          <a:prstGeom prst="rect">
            <a:avLst/>
          </a:prstGeom>
        </p:spPr>
      </p:pic>
      <p:sp>
        <p:nvSpPr>
          <p:cNvPr id="8" name="Idea text 1"/>
          <p:cNvSpPr txBox="1"/>
          <p:nvPr/>
        </p:nvSpPr>
        <p:spPr>
          <a:xfrm>
            <a:off x="749808" y="2212848"/>
            <a:ext cx="3154680" cy="1143000"/>
          </a:xfrm>
          <a:prstGeom prst="rect">
            <a:avLst/>
          </a:prstGeom>
          <a:noFill/>
          <a:ln/>
        </p:spPr>
        <p:txBody>
          <a:bodyPr wrap="square" lIns="0" tIns="0" rIns="0" bIns="0" rtlCol="0" anchor="t"/>
          <a:lstStyle/>
          <a:p>
            <a:pPr indent="0" marL="0">
              <a:buNone/>
            </a:pPr>
            <a:r>
              <a:rPr lang="en-US" sz="1600" b="1" dirty="0">
                <a:solidFill>
                  <a:schemeClr val="bg1"/>
                </a:solidFill>
              </a:rPr>
              <a:t>Uncertainty-first matching</a:t>
            </a:r>
            <a:endParaRPr lang="en-US" sz="1600" dirty="0"/>
          </a:p>
          <a:p>
            <a:pPr indent="0" marL="0">
              <a:buNone/>
            </a:pPr>
            <a:r>
              <a:rPr lang="en-US" sz="1300" dirty="0">
                <a:solidFill>
                  <a:schemeClr val="bg2"/>
                </a:solidFill>
              </a:rPr>
              <a:t>When two pairings fit almost equally well, the match stays provisional instead of being guessed.</a:t>
            </a:r>
            <a:endParaRPr lang="en-US" sz="1600" dirty="0"/>
          </a:p>
        </p:txBody>
      </p:sp>
      <p:sp>
        <p:nvSpPr>
          <p:cNvPr id="9" name="Idea 2"/>
          <p:cNvSpPr/>
          <p:nvPr/>
        </p:nvSpPr>
        <p:spPr>
          <a:xfrm>
            <a:off x="4334256" y="1371600"/>
            <a:ext cx="3520440" cy="2057400"/>
          </a:xfrm>
          <a:prstGeom prst="roundRect">
            <a:avLst>
              <a:gd name="adj" fmla="val 3556"/>
            </a:avLst>
          </a:prstGeom>
          <a:solidFill>
            <a:schemeClr val="tx2"/>
          </a:solidFill>
          <a:ln w="12700">
            <a:solidFill>
              <a:srgbClr val="28414D"/>
            </a:solidFill>
            <a:prstDash val="solid"/>
          </a:ln>
        </p:spPr>
      </p:sp>
      <p:sp>
        <p:nvSpPr>
          <p:cNvPr id="10" name="Idea icon ring 2"/>
          <p:cNvSpPr/>
          <p:nvPr/>
        </p:nvSpPr>
        <p:spPr>
          <a:xfrm>
            <a:off x="4535424" y="1572768"/>
            <a:ext cx="512064" cy="512064"/>
          </a:xfrm>
          <a:prstGeom prst="ellipse">
            <a:avLst/>
          </a:prstGeom>
          <a:solidFill>
            <a:schemeClr val="tx1"/>
          </a:solidFill>
          <a:ln w="12700">
            <a:solidFill>
              <a:srgbClr val="45D6C5"/>
            </a:solidFill>
            <a:prstDash val="solid"/>
          </a:ln>
        </p:spPr>
      </p:sp>
      <p:pic>
        <p:nvPicPr>
          <p:cNvPr id="11" name="Idea icon 2" descr="preencoded.png">    </p:cNvPr>
          <p:cNvPicPr>
            <a:picLocks noChangeAspect="1"/>
          </p:cNvPicPr>
          <p:nvPr/>
        </p:nvPicPr>
        <p:blipFill>
          <a:blip r:embed="rId2"/>
          <a:stretch>
            <a:fillRect/>
          </a:stretch>
        </p:blipFill>
        <p:spPr>
          <a:xfrm>
            <a:off x="4663440" y="1700784"/>
            <a:ext cx="256032" cy="256032"/>
          </a:xfrm>
          <a:prstGeom prst="rect">
            <a:avLst/>
          </a:prstGeom>
        </p:spPr>
      </p:pic>
      <p:sp>
        <p:nvSpPr>
          <p:cNvPr id="12" name="Idea text 2"/>
          <p:cNvSpPr txBox="1"/>
          <p:nvPr/>
        </p:nvSpPr>
        <p:spPr>
          <a:xfrm>
            <a:off x="4535424" y="2212848"/>
            <a:ext cx="3154680" cy="1143000"/>
          </a:xfrm>
          <a:prstGeom prst="rect">
            <a:avLst/>
          </a:prstGeom>
          <a:noFill/>
          <a:ln/>
        </p:spPr>
        <p:txBody>
          <a:bodyPr wrap="square" lIns="0" tIns="0" rIns="0" bIns="0" rtlCol="0" anchor="t"/>
          <a:lstStyle/>
          <a:p>
            <a:pPr indent="0" marL="0">
              <a:buNone/>
            </a:pPr>
            <a:r>
              <a:rPr lang="en-US" sz="1600" b="1" dirty="0">
                <a:solidFill>
                  <a:schemeClr val="bg1"/>
                </a:solidFill>
              </a:rPr>
              <a:t>Contradiction finder</a:t>
            </a:r>
            <a:endParaRPr lang="en-US" sz="1600" dirty="0"/>
          </a:p>
          <a:p>
            <a:pPr indent="0" marL="0">
              <a:buNone/>
            </a:pPr>
            <a:r>
              <a:rPr lang="en-US" sz="1300" dirty="0">
                <a:solidFill>
                  <a:schemeClr val="bg2"/>
                </a:solidFill>
              </a:rPr>
              <a:t>Instead of one confidence score, it lists where evidence disagrees and what would resolve it.</a:t>
            </a:r>
            <a:endParaRPr lang="en-US" sz="1600" dirty="0"/>
          </a:p>
        </p:txBody>
      </p:sp>
      <p:sp>
        <p:nvSpPr>
          <p:cNvPr id="13" name="Idea 3"/>
          <p:cNvSpPr/>
          <p:nvPr/>
        </p:nvSpPr>
        <p:spPr>
          <a:xfrm>
            <a:off x="8119872" y="1371600"/>
            <a:ext cx="3520440" cy="2057400"/>
          </a:xfrm>
          <a:prstGeom prst="roundRect">
            <a:avLst>
              <a:gd name="adj" fmla="val 3556"/>
            </a:avLst>
          </a:prstGeom>
          <a:solidFill>
            <a:schemeClr val="tx2"/>
          </a:solidFill>
          <a:ln w="12700">
            <a:solidFill>
              <a:srgbClr val="28414D"/>
            </a:solidFill>
            <a:prstDash val="solid"/>
          </a:ln>
        </p:spPr>
      </p:sp>
      <p:sp>
        <p:nvSpPr>
          <p:cNvPr id="14" name="Idea icon ring 3"/>
          <p:cNvSpPr/>
          <p:nvPr/>
        </p:nvSpPr>
        <p:spPr>
          <a:xfrm>
            <a:off x="8321040" y="1572768"/>
            <a:ext cx="512064" cy="512064"/>
          </a:xfrm>
          <a:prstGeom prst="ellipse">
            <a:avLst/>
          </a:prstGeom>
          <a:solidFill>
            <a:schemeClr val="tx1"/>
          </a:solidFill>
          <a:ln w="12700">
            <a:solidFill>
              <a:srgbClr val="45D6C5"/>
            </a:solidFill>
            <a:prstDash val="solid"/>
          </a:ln>
        </p:spPr>
      </p:sp>
      <p:pic>
        <p:nvPicPr>
          <p:cNvPr id="15" name="Idea icon 3" descr="preencoded.png">    </p:cNvPr>
          <p:cNvPicPr>
            <a:picLocks noChangeAspect="1"/>
          </p:cNvPicPr>
          <p:nvPr/>
        </p:nvPicPr>
        <p:blipFill>
          <a:blip r:embed="rId3"/>
          <a:stretch>
            <a:fillRect/>
          </a:stretch>
        </p:blipFill>
        <p:spPr>
          <a:xfrm>
            <a:off x="8449056" y="1700784"/>
            <a:ext cx="256032" cy="256032"/>
          </a:xfrm>
          <a:prstGeom prst="rect">
            <a:avLst/>
          </a:prstGeom>
        </p:spPr>
      </p:pic>
      <p:sp>
        <p:nvSpPr>
          <p:cNvPr id="16" name="Idea text 3"/>
          <p:cNvSpPr txBox="1"/>
          <p:nvPr/>
        </p:nvSpPr>
        <p:spPr>
          <a:xfrm>
            <a:off x="8321040" y="2212848"/>
            <a:ext cx="3154680" cy="1143000"/>
          </a:xfrm>
          <a:prstGeom prst="rect">
            <a:avLst/>
          </a:prstGeom>
          <a:noFill/>
          <a:ln/>
        </p:spPr>
        <p:txBody>
          <a:bodyPr wrap="square" lIns="0" tIns="0" rIns="0" bIns="0" rtlCol="0" anchor="t"/>
          <a:lstStyle/>
          <a:p>
            <a:pPr indent="0" marL="0">
              <a:buNone/>
            </a:pPr>
            <a:r>
              <a:rPr lang="en-US" sz="1600" b="1" dirty="0">
                <a:solidFill>
                  <a:schemeClr val="bg1"/>
                </a:solidFill>
              </a:rPr>
              <a:t>Models that challenge themselves</a:t>
            </a:r>
            <a:endParaRPr lang="en-US" sz="1600" dirty="0"/>
          </a:p>
          <a:p>
            <a:pPr indent="0" marL="0">
              <a:buNone/>
            </a:pPr>
            <a:r>
              <a:rPr lang="en-US" sz="1300" dirty="0">
                <a:solidFill>
                  <a:schemeClr val="bg2"/>
                </a:solidFill>
              </a:rPr>
              <a:t>Growth methods compete on held-out data, so the method is chosen on evidence.</a:t>
            </a:r>
            <a:endParaRPr lang="en-US" sz="1600" dirty="0"/>
          </a:p>
        </p:txBody>
      </p:sp>
      <p:sp>
        <p:nvSpPr>
          <p:cNvPr id="17" name="Idea 4"/>
          <p:cNvSpPr/>
          <p:nvPr/>
        </p:nvSpPr>
        <p:spPr>
          <a:xfrm>
            <a:off x="548640" y="3703320"/>
            <a:ext cx="3520440" cy="2057400"/>
          </a:xfrm>
          <a:prstGeom prst="roundRect">
            <a:avLst>
              <a:gd name="adj" fmla="val 3556"/>
            </a:avLst>
          </a:prstGeom>
          <a:solidFill>
            <a:schemeClr val="tx2"/>
          </a:solidFill>
          <a:ln w="12700">
            <a:solidFill>
              <a:srgbClr val="28414D"/>
            </a:solidFill>
            <a:prstDash val="solid"/>
          </a:ln>
        </p:spPr>
      </p:sp>
      <p:sp>
        <p:nvSpPr>
          <p:cNvPr id="18" name="Idea icon ring 4"/>
          <p:cNvSpPr/>
          <p:nvPr/>
        </p:nvSpPr>
        <p:spPr>
          <a:xfrm>
            <a:off x="749808" y="3904488"/>
            <a:ext cx="512064" cy="512064"/>
          </a:xfrm>
          <a:prstGeom prst="ellipse">
            <a:avLst/>
          </a:prstGeom>
          <a:solidFill>
            <a:schemeClr val="tx1"/>
          </a:solidFill>
          <a:ln w="12700">
            <a:solidFill>
              <a:srgbClr val="45D6C5"/>
            </a:solidFill>
            <a:prstDash val="solid"/>
          </a:ln>
        </p:spPr>
      </p:sp>
      <p:pic>
        <p:nvPicPr>
          <p:cNvPr id="19" name="Idea icon 4" descr="preencoded.png">    </p:cNvPr>
          <p:cNvPicPr>
            <a:picLocks noChangeAspect="1"/>
          </p:cNvPicPr>
          <p:nvPr/>
        </p:nvPicPr>
        <p:blipFill>
          <a:blip r:embed="rId4"/>
          <a:stretch>
            <a:fillRect/>
          </a:stretch>
        </p:blipFill>
        <p:spPr>
          <a:xfrm>
            <a:off x="877824" y="4032504"/>
            <a:ext cx="256032" cy="256032"/>
          </a:xfrm>
          <a:prstGeom prst="rect">
            <a:avLst/>
          </a:prstGeom>
        </p:spPr>
      </p:pic>
      <p:sp>
        <p:nvSpPr>
          <p:cNvPr id="20" name="Idea text 4"/>
          <p:cNvSpPr txBox="1"/>
          <p:nvPr/>
        </p:nvSpPr>
        <p:spPr>
          <a:xfrm>
            <a:off x="749808" y="4544568"/>
            <a:ext cx="3154680" cy="1143000"/>
          </a:xfrm>
          <a:prstGeom prst="rect">
            <a:avLst/>
          </a:prstGeom>
          <a:noFill/>
          <a:ln/>
        </p:spPr>
        <p:txBody>
          <a:bodyPr wrap="square" lIns="0" tIns="0" rIns="0" bIns="0" rtlCol="0" anchor="t"/>
          <a:lstStyle/>
          <a:p>
            <a:pPr indent="0" marL="0">
              <a:buNone/>
            </a:pPr>
            <a:r>
              <a:rPr lang="en-US" sz="1600" b="1" dirty="0">
                <a:solidFill>
                  <a:schemeClr val="bg1"/>
                </a:solidFill>
              </a:rPr>
              <a:t>Evidence labels</a:t>
            </a:r>
            <a:endParaRPr lang="en-US" sz="1600" dirty="0"/>
          </a:p>
          <a:p>
            <a:pPr indent="0" marL="0">
              <a:buNone/>
            </a:pPr>
            <a:r>
              <a:rPr lang="en-US" sz="1300" dirty="0">
                <a:solidFill>
                  <a:schemeClr val="bg2"/>
                </a:solidFill>
              </a:rPr>
              <a:t>Every value is tagged observed, calculated, uncertain, predicted or human decision.</a:t>
            </a:r>
            <a:endParaRPr lang="en-US" sz="1600" dirty="0"/>
          </a:p>
        </p:txBody>
      </p:sp>
      <p:sp>
        <p:nvSpPr>
          <p:cNvPr id="21" name="Idea 5"/>
          <p:cNvSpPr/>
          <p:nvPr/>
        </p:nvSpPr>
        <p:spPr>
          <a:xfrm>
            <a:off x="4334256" y="3703320"/>
            <a:ext cx="3520440" cy="2057400"/>
          </a:xfrm>
          <a:prstGeom prst="roundRect">
            <a:avLst>
              <a:gd name="adj" fmla="val 3556"/>
            </a:avLst>
          </a:prstGeom>
          <a:solidFill>
            <a:schemeClr val="tx2"/>
          </a:solidFill>
          <a:ln w="12700">
            <a:solidFill>
              <a:srgbClr val="28414D"/>
            </a:solidFill>
            <a:prstDash val="solid"/>
          </a:ln>
        </p:spPr>
      </p:sp>
      <p:sp>
        <p:nvSpPr>
          <p:cNvPr id="22" name="Idea icon ring 5"/>
          <p:cNvSpPr/>
          <p:nvPr/>
        </p:nvSpPr>
        <p:spPr>
          <a:xfrm>
            <a:off x="4535424" y="3904488"/>
            <a:ext cx="512064" cy="512064"/>
          </a:xfrm>
          <a:prstGeom prst="ellipse">
            <a:avLst/>
          </a:prstGeom>
          <a:solidFill>
            <a:schemeClr val="tx1"/>
          </a:solidFill>
          <a:ln w="12700">
            <a:solidFill>
              <a:srgbClr val="45D6C5"/>
            </a:solidFill>
            <a:prstDash val="solid"/>
          </a:ln>
        </p:spPr>
      </p:sp>
      <p:pic>
        <p:nvPicPr>
          <p:cNvPr id="23" name="Idea icon 5" descr="preencoded.png">    </p:cNvPr>
          <p:cNvPicPr>
            <a:picLocks noChangeAspect="1"/>
          </p:cNvPicPr>
          <p:nvPr/>
        </p:nvPicPr>
        <p:blipFill>
          <a:blip r:embed="rId5"/>
          <a:stretch>
            <a:fillRect/>
          </a:stretch>
        </p:blipFill>
        <p:spPr>
          <a:xfrm>
            <a:off x="4663440" y="4032504"/>
            <a:ext cx="256032" cy="256032"/>
          </a:xfrm>
          <a:prstGeom prst="rect">
            <a:avLst/>
          </a:prstGeom>
        </p:spPr>
      </p:pic>
      <p:sp>
        <p:nvSpPr>
          <p:cNvPr id="24" name="Idea text 5"/>
          <p:cNvSpPr txBox="1"/>
          <p:nvPr/>
        </p:nvSpPr>
        <p:spPr>
          <a:xfrm>
            <a:off x="4535424" y="4544568"/>
            <a:ext cx="3154680" cy="1143000"/>
          </a:xfrm>
          <a:prstGeom prst="rect">
            <a:avLst/>
          </a:prstGeom>
          <a:noFill/>
          <a:ln/>
        </p:spPr>
        <p:txBody>
          <a:bodyPr wrap="square" lIns="0" tIns="0" rIns="0" bIns="0" rtlCol="0" anchor="t"/>
          <a:lstStyle/>
          <a:p>
            <a:pPr indent="0" marL="0">
              <a:buNone/>
            </a:pPr>
            <a:r>
              <a:rPr lang="en-US" sz="1600" b="1" dirty="0">
                <a:solidFill>
                  <a:schemeClr val="bg1"/>
                </a:solidFill>
              </a:rPr>
              <a:t>Evidence Passport</a:t>
            </a:r>
            <a:endParaRPr lang="en-US" sz="1600" dirty="0"/>
          </a:p>
          <a:p>
            <a:pPr indent="0" marL="0">
              <a:buNone/>
            </a:pPr>
            <a:r>
              <a:rPr lang="en-US" sz="1300" dirty="0">
                <a:solidFill>
                  <a:schemeClr val="bg2"/>
                </a:solidFill>
              </a:rPr>
              <a:t>One traceable record of data, analysis, reasons and decisions, reproducible from a snapshot.</a:t>
            </a:r>
            <a:endParaRPr lang="en-US" sz="1600" dirty="0"/>
          </a:p>
        </p:txBody>
      </p:sp>
      <p:sp>
        <p:nvSpPr>
          <p:cNvPr id="25" name="Idea 6"/>
          <p:cNvSpPr/>
          <p:nvPr/>
        </p:nvSpPr>
        <p:spPr>
          <a:xfrm>
            <a:off x="8119872" y="3703320"/>
            <a:ext cx="3520440" cy="2057400"/>
          </a:xfrm>
          <a:prstGeom prst="roundRect">
            <a:avLst>
              <a:gd name="adj" fmla="val 3556"/>
            </a:avLst>
          </a:prstGeom>
          <a:solidFill>
            <a:schemeClr val="tx2"/>
          </a:solidFill>
          <a:ln w="12700">
            <a:solidFill>
              <a:srgbClr val="28414D"/>
            </a:solidFill>
            <a:prstDash val="solid"/>
          </a:ln>
        </p:spPr>
      </p:sp>
      <p:sp>
        <p:nvSpPr>
          <p:cNvPr id="26" name="Idea icon ring 6"/>
          <p:cNvSpPr/>
          <p:nvPr/>
        </p:nvSpPr>
        <p:spPr>
          <a:xfrm>
            <a:off x="8321040" y="3904488"/>
            <a:ext cx="512064" cy="512064"/>
          </a:xfrm>
          <a:prstGeom prst="ellipse">
            <a:avLst/>
          </a:prstGeom>
          <a:solidFill>
            <a:schemeClr val="tx1"/>
          </a:solidFill>
          <a:ln w="12700">
            <a:solidFill>
              <a:srgbClr val="45D6C5"/>
            </a:solidFill>
            <a:prstDash val="solid"/>
          </a:ln>
        </p:spPr>
      </p:sp>
      <p:pic>
        <p:nvPicPr>
          <p:cNvPr id="27" name="Idea icon 6" descr="preencoded.png">    </p:cNvPr>
          <p:cNvPicPr>
            <a:picLocks noChangeAspect="1"/>
          </p:cNvPicPr>
          <p:nvPr/>
        </p:nvPicPr>
        <p:blipFill>
          <a:blip r:embed="rId6"/>
          <a:stretch>
            <a:fillRect/>
          </a:stretch>
        </p:blipFill>
        <p:spPr>
          <a:xfrm>
            <a:off x="8449056" y="4032504"/>
            <a:ext cx="256032" cy="256032"/>
          </a:xfrm>
          <a:prstGeom prst="rect">
            <a:avLst/>
          </a:prstGeom>
        </p:spPr>
      </p:pic>
      <p:sp>
        <p:nvSpPr>
          <p:cNvPr id="28" name="Idea text 6"/>
          <p:cNvSpPr txBox="1"/>
          <p:nvPr/>
        </p:nvSpPr>
        <p:spPr>
          <a:xfrm>
            <a:off x="8321040" y="4544568"/>
            <a:ext cx="3154680" cy="1143000"/>
          </a:xfrm>
          <a:prstGeom prst="rect">
            <a:avLst/>
          </a:prstGeom>
          <a:noFill/>
          <a:ln/>
        </p:spPr>
        <p:txBody>
          <a:bodyPr wrap="square" lIns="0" tIns="0" rIns="0" bIns="0" rtlCol="0" anchor="t"/>
          <a:lstStyle/>
          <a:p>
            <a:pPr indent="0" marL="0">
              <a:buNone/>
            </a:pPr>
            <a:r>
              <a:rPr lang="en-US" sz="1600" b="1" dirty="0">
                <a:solidFill>
                  <a:schemeClr val="bg1"/>
                </a:solidFill>
              </a:rPr>
              <a:t>3D pipeline twin</a:t>
            </a:r>
            <a:endParaRPr lang="en-US" sz="1600" dirty="0"/>
          </a:p>
          <a:p>
            <a:pPr indent="0" marL="0">
              <a:buNone/>
            </a:pPr>
            <a:r>
              <a:rPr lang="en-US" sz="1300" dirty="0">
                <a:solidFill>
                  <a:schemeClr val="bg2"/>
                </a:solidFill>
              </a:rPr>
              <a:t>Shows matches and priorities in space, so non-specialists can follow the reasoning.</a:t>
            </a:r>
            <a:endParaRPr lang="en-US" sz="16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How we prove it works</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Feasibility &amp; Execution · 10</a:t>
            </a:r>
            <a:endParaRPr lang="en-US" sz="900" dirty="0"/>
          </a:p>
        </p:txBody>
      </p:sp>
      <p:sp>
        <p:nvSpPr>
          <p:cNvPr id="5" name="Approach card"/>
          <p:cNvSpPr/>
          <p:nvPr/>
        </p:nvSpPr>
        <p:spPr>
          <a:xfrm>
            <a:off x="548640" y="1371600"/>
            <a:ext cx="5760720" cy="4800600"/>
          </a:xfrm>
          <a:prstGeom prst="roundRect">
            <a:avLst>
              <a:gd name="adj" fmla="val 1524"/>
            </a:avLst>
          </a:prstGeom>
          <a:solidFill>
            <a:schemeClr val="tx2"/>
          </a:solidFill>
          <a:ln w="12700">
            <a:solidFill>
              <a:srgbClr val="28414D"/>
            </a:solidFill>
            <a:prstDash val="solid"/>
          </a:ln>
        </p:spPr>
      </p:sp>
      <p:sp>
        <p:nvSpPr>
          <p:cNvPr id="6" name="Approach heading"/>
          <p:cNvSpPr txBox="1"/>
          <p:nvPr/>
        </p:nvSpPr>
        <p:spPr>
          <a:xfrm>
            <a:off x="777240" y="1481328"/>
            <a:ext cx="5303520" cy="292608"/>
          </a:xfrm>
          <a:prstGeom prst="rect">
            <a:avLst/>
          </a:prstGeom>
          <a:noFill/>
          <a:ln/>
        </p:spPr>
        <p:txBody>
          <a:bodyPr wrap="square" lIns="0" tIns="0" rIns="0" bIns="0" rtlCol="0" anchor="ctr"/>
          <a:lstStyle/>
          <a:p>
            <a:pPr indent="0" marL="0">
              <a:buNone/>
            </a:pPr>
            <a:r>
              <a:rPr lang="en-US" sz="1000" b="1" spc="150" kern="0" dirty="0">
                <a:solidFill>
                  <a:schemeClr val="accent2"/>
                </a:solidFill>
              </a:rPr>
              <a:t>VALIDATION APPROACH</a:t>
            </a:r>
            <a:endParaRPr lang="en-US" sz="1000" dirty="0"/>
          </a:p>
        </p:txBody>
      </p:sp>
      <p:sp>
        <p:nvSpPr>
          <p:cNvPr id="7" name="Approach num 1"/>
          <p:cNvSpPr/>
          <p:nvPr/>
        </p:nvSpPr>
        <p:spPr>
          <a:xfrm>
            <a:off x="777240" y="1947672"/>
            <a:ext cx="365760" cy="365760"/>
          </a:xfrm>
          <a:prstGeom prst="ellipse">
            <a:avLst/>
          </a:prstGeom>
          <a:solidFill>
            <a:schemeClr val="accent3"/>
          </a:solidFill>
          <a:ln w="12700">
            <a:solidFill>
              <a:srgbClr val="28B8AC"/>
            </a:solidFill>
            <a:prstDash val="solid"/>
          </a:ln>
        </p:spPr>
      </p:sp>
      <p:sp>
        <p:nvSpPr>
          <p:cNvPr id="8" name="Approach num text 1"/>
          <p:cNvSpPr txBox="1"/>
          <p:nvPr/>
        </p:nvSpPr>
        <p:spPr>
          <a:xfrm>
            <a:off x="777240" y="194767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Approach text 1"/>
          <p:cNvSpPr txBox="1"/>
          <p:nvPr/>
        </p:nvSpPr>
        <p:spPr>
          <a:xfrm>
            <a:off x="1298448" y="1883664"/>
            <a:ext cx="4846320" cy="896112"/>
          </a:xfrm>
          <a:prstGeom prst="rect">
            <a:avLst/>
          </a:prstGeom>
          <a:noFill/>
          <a:ln/>
        </p:spPr>
        <p:txBody>
          <a:bodyPr wrap="square" lIns="0" tIns="0" rIns="0" bIns="0" rtlCol="0" anchor="t"/>
          <a:lstStyle/>
          <a:p>
            <a:pPr indent="0" marL="0">
              <a:buNone/>
            </a:pPr>
            <a:r>
              <a:rPr lang="en-US" sz="1500" b="1" dirty="0">
                <a:solidFill>
                  <a:schemeClr val="bg1"/>
                </a:solidFill>
              </a:rPr>
              <a:t>Answer key kept hidden</a:t>
            </a:r>
            <a:endParaRPr lang="en-US" sz="1500" dirty="0"/>
          </a:p>
          <a:p>
            <a:pPr indent="0" marL="0">
              <a:buNone/>
            </a:pPr>
            <a:r>
              <a:rPr lang="en-US" sz="1300" dirty="0">
                <a:solidFill>
                  <a:schemeClr val="bg2"/>
                </a:solidFill>
              </a:rPr>
              <a:t>A seeded synthetic pipeline with known true pairs and growth rates; the analysis never sees it</a:t>
            </a:r>
            <a:endParaRPr lang="en-US" sz="1500" dirty="0"/>
          </a:p>
        </p:txBody>
      </p:sp>
      <p:sp>
        <p:nvSpPr>
          <p:cNvPr id="10" name="Approach num 2"/>
          <p:cNvSpPr/>
          <p:nvPr/>
        </p:nvSpPr>
        <p:spPr>
          <a:xfrm>
            <a:off x="777240" y="2999232"/>
            <a:ext cx="365760" cy="365760"/>
          </a:xfrm>
          <a:prstGeom prst="ellipse">
            <a:avLst/>
          </a:prstGeom>
          <a:solidFill>
            <a:schemeClr val="accent3"/>
          </a:solidFill>
          <a:ln w="12700">
            <a:solidFill>
              <a:srgbClr val="28B8AC"/>
            </a:solidFill>
            <a:prstDash val="solid"/>
          </a:ln>
        </p:spPr>
      </p:sp>
      <p:sp>
        <p:nvSpPr>
          <p:cNvPr id="11" name="Approach num text 2"/>
          <p:cNvSpPr txBox="1"/>
          <p:nvPr/>
        </p:nvSpPr>
        <p:spPr>
          <a:xfrm>
            <a:off x="777240" y="29992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Approach text 2"/>
          <p:cNvSpPr txBox="1"/>
          <p:nvPr/>
        </p:nvSpPr>
        <p:spPr>
          <a:xfrm>
            <a:off x="1298448" y="2935224"/>
            <a:ext cx="4846320" cy="896112"/>
          </a:xfrm>
          <a:prstGeom prst="rect">
            <a:avLst/>
          </a:prstGeom>
          <a:noFill/>
          <a:ln/>
        </p:spPr>
        <p:txBody>
          <a:bodyPr wrap="square" lIns="0" tIns="0" rIns="0" bIns="0" rtlCol="0" anchor="t"/>
          <a:lstStyle/>
          <a:p>
            <a:pPr indent="0" marL="0">
              <a:buNone/>
            </a:pPr>
            <a:r>
              <a:rPr lang="en-US" sz="1500" b="1" dirty="0">
                <a:solidFill>
                  <a:schemeClr val="bg1"/>
                </a:solidFill>
              </a:rPr>
              <a:t>Compare afterwards</a:t>
            </a:r>
            <a:endParaRPr lang="en-US" sz="1500" dirty="0"/>
          </a:p>
          <a:p>
            <a:pPr indent="0" marL="0">
              <a:buNone/>
            </a:pPr>
            <a:r>
              <a:rPr lang="en-US" sz="1300" dirty="0">
                <a:solidFill>
                  <a:schemeClr val="bg2"/>
                </a:solidFill>
              </a:rPr>
              <a:t>Match precision and recall, growth-rate error and uncertainty-interval coverage</a:t>
            </a:r>
            <a:endParaRPr lang="en-US" sz="1500" dirty="0"/>
          </a:p>
        </p:txBody>
      </p:sp>
      <p:sp>
        <p:nvSpPr>
          <p:cNvPr id="13" name="Approach num 3"/>
          <p:cNvSpPr/>
          <p:nvPr/>
        </p:nvSpPr>
        <p:spPr>
          <a:xfrm>
            <a:off x="777240" y="4050792"/>
            <a:ext cx="365760" cy="365760"/>
          </a:xfrm>
          <a:prstGeom prst="ellipse">
            <a:avLst/>
          </a:prstGeom>
          <a:solidFill>
            <a:schemeClr val="accent3"/>
          </a:solidFill>
          <a:ln w="12700">
            <a:solidFill>
              <a:srgbClr val="28B8AC"/>
            </a:solidFill>
            <a:prstDash val="solid"/>
          </a:ln>
        </p:spPr>
      </p:sp>
      <p:sp>
        <p:nvSpPr>
          <p:cNvPr id="14" name="Approach num text 3"/>
          <p:cNvSpPr txBox="1"/>
          <p:nvPr/>
        </p:nvSpPr>
        <p:spPr>
          <a:xfrm>
            <a:off x="777240" y="405079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Approach text 3"/>
          <p:cNvSpPr txBox="1"/>
          <p:nvPr/>
        </p:nvSpPr>
        <p:spPr>
          <a:xfrm>
            <a:off x="1298448" y="3986784"/>
            <a:ext cx="4846320" cy="896112"/>
          </a:xfrm>
          <a:prstGeom prst="rect">
            <a:avLst/>
          </a:prstGeom>
          <a:noFill/>
          <a:ln/>
        </p:spPr>
        <p:txBody>
          <a:bodyPr wrap="square" lIns="0" tIns="0" rIns="0" bIns="0" rtlCol="0" anchor="t"/>
          <a:lstStyle/>
          <a:p>
            <a:pPr indent="0" marL="0">
              <a:buNone/>
            </a:pPr>
            <a:r>
              <a:rPr lang="en-US" sz="1500" b="1" dirty="0">
                <a:solidFill>
                  <a:schemeClr val="bg1"/>
                </a:solidFill>
              </a:rPr>
              <a:t>Switch features off</a:t>
            </a:r>
            <a:endParaRPr lang="en-US" sz="1500" dirty="0"/>
          </a:p>
          <a:p>
            <a:pPr indent="0" marL="0">
              <a:buNone/>
            </a:pPr>
            <a:r>
              <a:rPr lang="en-US" sz="1300" dirty="0">
                <a:solidFill>
                  <a:schemeClr val="bg2"/>
                </a:solidFill>
              </a:rPr>
              <a:t>Ablation tests show what each step adds (for example, alignment)</a:t>
            </a:r>
            <a:endParaRPr lang="en-US" sz="1500" dirty="0"/>
          </a:p>
        </p:txBody>
      </p:sp>
      <p:sp>
        <p:nvSpPr>
          <p:cNvPr id="16" name="Approach num 4"/>
          <p:cNvSpPr/>
          <p:nvPr/>
        </p:nvSpPr>
        <p:spPr>
          <a:xfrm>
            <a:off x="777240" y="5102352"/>
            <a:ext cx="365760" cy="365760"/>
          </a:xfrm>
          <a:prstGeom prst="ellipse">
            <a:avLst/>
          </a:prstGeom>
          <a:solidFill>
            <a:schemeClr val="accent3"/>
          </a:solidFill>
          <a:ln w="12700">
            <a:solidFill>
              <a:srgbClr val="28B8AC"/>
            </a:solidFill>
            <a:prstDash val="solid"/>
          </a:ln>
        </p:spPr>
      </p:sp>
      <p:sp>
        <p:nvSpPr>
          <p:cNvPr id="17" name="Approach num text 4"/>
          <p:cNvSpPr txBox="1"/>
          <p:nvPr/>
        </p:nvSpPr>
        <p:spPr>
          <a:xfrm>
            <a:off x="777240" y="510235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Approach text 4"/>
          <p:cNvSpPr txBox="1"/>
          <p:nvPr/>
        </p:nvSpPr>
        <p:spPr>
          <a:xfrm>
            <a:off x="1298448" y="5038344"/>
            <a:ext cx="4846320" cy="896112"/>
          </a:xfrm>
          <a:prstGeom prst="rect">
            <a:avLst/>
          </a:prstGeom>
          <a:noFill/>
          <a:ln/>
        </p:spPr>
        <p:txBody>
          <a:bodyPr wrap="square" lIns="0" tIns="0" rIns="0" bIns="0" rtlCol="0" anchor="t"/>
          <a:lstStyle/>
          <a:p>
            <a:pPr indent="0" marL="0">
              <a:buNone/>
            </a:pPr>
            <a:r>
              <a:rPr lang="en-US" sz="1500" b="1" dirty="0">
                <a:solidFill>
                  <a:schemeClr val="bg1"/>
                </a:solidFill>
              </a:rPr>
              <a:t>Test every rule</a:t>
            </a:r>
            <a:endParaRPr lang="en-US" sz="1500" dirty="0"/>
          </a:p>
          <a:p>
            <a:pPr indent="0" marL="0">
              <a:buNone/>
            </a:pPr>
            <a:r>
              <a:rPr lang="en-US" sz="1300" dirty="0">
                <a:solidFill>
                  <a:schemeClr val="bg2"/>
                </a:solidFill>
              </a:rPr>
              <a:t>Automated tests for validation, matching, growth, priorities, roles and exports</a:t>
            </a:r>
            <a:endParaRPr lang="en-US" sz="1500" dirty="0"/>
          </a:p>
        </p:txBody>
      </p:sp>
      <p:sp>
        <p:nvSpPr>
          <p:cNvPr id="19" name="Early results card"/>
          <p:cNvSpPr/>
          <p:nvPr/>
        </p:nvSpPr>
        <p:spPr>
          <a:xfrm>
            <a:off x="6583680" y="1371600"/>
            <a:ext cx="5056632" cy="4800600"/>
          </a:xfrm>
          <a:prstGeom prst="roundRect">
            <a:avLst>
              <a:gd name="adj" fmla="val 1524"/>
            </a:avLst>
          </a:prstGeom>
          <a:solidFill>
            <a:schemeClr val="tx2"/>
          </a:solidFill>
          <a:ln w="12700">
            <a:solidFill>
              <a:srgbClr val="28414D"/>
            </a:solidFill>
            <a:prstDash val="solid"/>
          </a:ln>
        </p:spPr>
      </p:sp>
      <p:sp>
        <p:nvSpPr>
          <p:cNvPr id="20" name="Results heading"/>
          <p:cNvSpPr txBox="1"/>
          <p:nvPr/>
        </p:nvSpPr>
        <p:spPr>
          <a:xfrm>
            <a:off x="6812280" y="1481328"/>
            <a:ext cx="4663440" cy="292608"/>
          </a:xfrm>
          <a:prstGeom prst="rect">
            <a:avLst/>
          </a:prstGeom>
          <a:noFill/>
          <a:ln/>
        </p:spPr>
        <p:txBody>
          <a:bodyPr wrap="square" lIns="0" tIns="0" rIns="0" bIns="0" rtlCol="0" anchor="ctr"/>
          <a:lstStyle/>
          <a:p>
            <a:pPr indent="0" marL="0">
              <a:buNone/>
            </a:pPr>
            <a:r>
              <a:rPr lang="en-US" sz="1000" b="1" spc="150" kern="0" dirty="0">
                <a:solidFill>
                  <a:schemeClr val="accent2"/>
                </a:solidFill>
              </a:rPr>
              <a:t>EARLY RESULTS ON SYNTHETIC DATA</a:t>
            </a:r>
            <a:endParaRPr lang="en-US" sz="1000" dirty="0"/>
          </a:p>
        </p:txBody>
      </p:sp>
      <p:sp>
        <p:nvSpPr>
          <p:cNvPr id="21" name="Result value 1"/>
          <p:cNvSpPr txBox="1"/>
          <p:nvPr/>
        </p:nvSpPr>
        <p:spPr>
          <a:xfrm>
            <a:off x="6812280" y="1874520"/>
            <a:ext cx="1325880" cy="640080"/>
          </a:xfrm>
          <a:prstGeom prst="rect">
            <a:avLst/>
          </a:prstGeom>
          <a:noFill/>
          <a:ln/>
        </p:spPr>
        <p:txBody>
          <a:bodyPr wrap="square" lIns="0" tIns="0" rIns="0" bIns="0" rtlCol="0" anchor="ctr"/>
          <a:lstStyle/>
          <a:p>
            <a:pPr indent="0" marL="0">
              <a:buNone/>
            </a:pPr>
            <a:r>
              <a:rPr lang="en-US" sz="2800" b="1" dirty="0">
                <a:solidFill>
                  <a:schemeClr val="accent2"/>
                </a:solidFill>
              </a:rPr>
              <a:t>1.000</a:t>
            </a:r>
            <a:endParaRPr lang="en-US" sz="2800" dirty="0"/>
          </a:p>
        </p:txBody>
      </p:sp>
      <p:sp>
        <p:nvSpPr>
          <p:cNvPr id="22" name="Result label 1"/>
          <p:cNvSpPr txBox="1"/>
          <p:nvPr/>
        </p:nvSpPr>
        <p:spPr>
          <a:xfrm>
            <a:off x="8229600" y="1874520"/>
            <a:ext cx="3246120" cy="640080"/>
          </a:xfrm>
          <a:prstGeom prst="rect">
            <a:avLst/>
          </a:prstGeom>
          <a:noFill/>
          <a:ln/>
        </p:spPr>
        <p:txBody>
          <a:bodyPr wrap="square" lIns="0" tIns="0" rIns="0" bIns="0" rtlCol="0" anchor="ctr"/>
          <a:lstStyle/>
          <a:p>
            <a:pPr indent="0" marL="0">
              <a:buNone/>
            </a:pPr>
            <a:r>
              <a:rPr lang="en-US" sz="1300" dirty="0">
                <a:solidFill>
                  <a:schemeClr val="bg1"/>
                </a:solidFill>
              </a:rPr>
              <a:t>precision of likely matches (212 of 212)</a:t>
            </a:r>
            <a:endParaRPr lang="en-US" sz="1300" dirty="0"/>
          </a:p>
        </p:txBody>
      </p:sp>
      <p:sp>
        <p:nvSpPr>
          <p:cNvPr id="23" name="Result value 2"/>
          <p:cNvSpPr txBox="1"/>
          <p:nvPr/>
        </p:nvSpPr>
        <p:spPr>
          <a:xfrm>
            <a:off x="6812280" y="2660904"/>
            <a:ext cx="1325880" cy="640080"/>
          </a:xfrm>
          <a:prstGeom prst="rect">
            <a:avLst/>
          </a:prstGeom>
          <a:noFill/>
          <a:ln/>
        </p:spPr>
        <p:txBody>
          <a:bodyPr wrap="square" lIns="0" tIns="0" rIns="0" bIns="0" rtlCol="0" anchor="ctr"/>
          <a:lstStyle/>
          <a:p>
            <a:pPr indent="0" marL="0">
              <a:buNone/>
            </a:pPr>
            <a:r>
              <a:rPr lang="en-US" sz="2800" b="1" dirty="0">
                <a:solidFill>
                  <a:schemeClr val="accent2"/>
                </a:solidFill>
              </a:rPr>
              <a:t>0.992</a:t>
            </a:r>
            <a:endParaRPr lang="en-US" sz="2800" dirty="0"/>
          </a:p>
        </p:txBody>
      </p:sp>
      <p:sp>
        <p:nvSpPr>
          <p:cNvPr id="24" name="Result label 2"/>
          <p:cNvSpPr txBox="1"/>
          <p:nvPr/>
        </p:nvSpPr>
        <p:spPr>
          <a:xfrm>
            <a:off x="8229600" y="2660904"/>
            <a:ext cx="3246120" cy="640080"/>
          </a:xfrm>
          <a:prstGeom prst="rect">
            <a:avLst/>
          </a:prstGeom>
          <a:noFill/>
          <a:ln/>
        </p:spPr>
        <p:txBody>
          <a:bodyPr wrap="square" lIns="0" tIns="0" rIns="0" bIns="0" rtlCol="0" anchor="ctr"/>
          <a:lstStyle/>
          <a:p>
            <a:pPr indent="0" marL="0">
              <a:buNone/>
            </a:pPr>
            <a:r>
              <a:rPr lang="en-US" sz="1300" dirty="0">
                <a:solidFill>
                  <a:schemeClr val="bg1"/>
                </a:solidFill>
              </a:rPr>
              <a:t>of true pairs recovered (241 of 243)</a:t>
            </a:r>
            <a:endParaRPr lang="en-US" sz="1300" dirty="0"/>
          </a:p>
        </p:txBody>
      </p:sp>
      <p:sp>
        <p:nvSpPr>
          <p:cNvPr id="25" name="Result value 3"/>
          <p:cNvSpPr txBox="1"/>
          <p:nvPr/>
        </p:nvSpPr>
        <p:spPr>
          <a:xfrm>
            <a:off x="6812280" y="3447288"/>
            <a:ext cx="1325880" cy="640080"/>
          </a:xfrm>
          <a:prstGeom prst="rect">
            <a:avLst/>
          </a:prstGeom>
          <a:noFill/>
          <a:ln/>
        </p:spPr>
        <p:txBody>
          <a:bodyPr wrap="square" lIns="0" tIns="0" rIns="0" bIns="0" rtlCol="0" anchor="ctr"/>
          <a:lstStyle/>
          <a:p>
            <a:pPr indent="0" marL="0">
              <a:buNone/>
            </a:pPr>
            <a:r>
              <a:rPr lang="en-US" sz="2800" b="1" dirty="0">
                <a:solidFill>
                  <a:schemeClr val="accent2"/>
                </a:solidFill>
              </a:rPr>
              <a:t>0.042</a:t>
            </a:r>
            <a:endParaRPr lang="en-US" sz="2800" dirty="0"/>
          </a:p>
        </p:txBody>
      </p:sp>
      <p:sp>
        <p:nvSpPr>
          <p:cNvPr id="26" name="Result label 3"/>
          <p:cNvSpPr txBox="1"/>
          <p:nvPr/>
        </p:nvSpPr>
        <p:spPr>
          <a:xfrm>
            <a:off x="8229600" y="3447288"/>
            <a:ext cx="3246120" cy="640080"/>
          </a:xfrm>
          <a:prstGeom prst="rect">
            <a:avLst/>
          </a:prstGeom>
          <a:noFill/>
          <a:ln/>
        </p:spPr>
        <p:txBody>
          <a:bodyPr wrap="square" lIns="0" tIns="0" rIns="0" bIns="0" rtlCol="0" anchor="ctr"/>
          <a:lstStyle/>
          <a:p>
            <a:pPr indent="0" marL="0">
              <a:buNone/>
            </a:pPr>
            <a:r>
              <a:rPr lang="en-US" sz="1300" dirty="0">
                <a:solidFill>
                  <a:schemeClr val="bg1"/>
                </a:solidFill>
              </a:rPr>
              <a:t>mm/yr growth-rate error with shrinkage (baseline 0.057)</a:t>
            </a:r>
            <a:endParaRPr lang="en-US" sz="1300" dirty="0"/>
          </a:p>
        </p:txBody>
      </p:sp>
      <p:sp>
        <p:nvSpPr>
          <p:cNvPr id="27" name="Result value 4"/>
          <p:cNvSpPr txBox="1"/>
          <p:nvPr/>
        </p:nvSpPr>
        <p:spPr>
          <a:xfrm>
            <a:off x="6812280" y="4233672"/>
            <a:ext cx="1325880" cy="640080"/>
          </a:xfrm>
          <a:prstGeom prst="rect">
            <a:avLst/>
          </a:prstGeom>
          <a:noFill/>
          <a:ln/>
        </p:spPr>
        <p:txBody>
          <a:bodyPr wrap="square" lIns="0" tIns="0" rIns="0" bIns="0" rtlCol="0" anchor="ctr"/>
          <a:lstStyle/>
          <a:p>
            <a:pPr indent="0" marL="0">
              <a:buNone/>
            </a:pPr>
            <a:r>
              <a:rPr lang="en-US" sz="2800" b="1" dirty="0">
                <a:solidFill>
                  <a:schemeClr val="accent2"/>
                </a:solidFill>
              </a:rPr>
              <a:t>280</a:t>
            </a:r>
            <a:endParaRPr lang="en-US" sz="2800" dirty="0"/>
          </a:p>
        </p:txBody>
      </p:sp>
      <p:sp>
        <p:nvSpPr>
          <p:cNvPr id="28" name="Result label 4"/>
          <p:cNvSpPr txBox="1"/>
          <p:nvPr/>
        </p:nvSpPr>
        <p:spPr>
          <a:xfrm>
            <a:off x="8229600" y="4233672"/>
            <a:ext cx="3246120" cy="640080"/>
          </a:xfrm>
          <a:prstGeom prst="rect">
            <a:avLst/>
          </a:prstGeom>
          <a:noFill/>
          <a:ln/>
        </p:spPr>
        <p:txBody>
          <a:bodyPr wrap="square" lIns="0" tIns="0" rIns="0" bIns="0" rtlCol="0" anchor="ctr"/>
          <a:lstStyle/>
          <a:p>
            <a:pPr indent="0" marL="0">
              <a:buNone/>
            </a:pPr>
            <a:r>
              <a:rPr lang="en-US" sz="1300" dirty="0">
                <a:solidFill>
                  <a:schemeClr val="bg1"/>
                </a:solidFill>
              </a:rPr>
              <a:t>automated tests passing</a:t>
            </a:r>
            <a:endParaRPr lang="en-US" sz="1300" dirty="0"/>
          </a:p>
        </p:txBody>
      </p:sp>
      <p:sp>
        <p:nvSpPr>
          <p:cNvPr id="29" name="Results caveat"/>
          <p:cNvSpPr txBox="1"/>
          <p:nvPr/>
        </p:nvSpPr>
        <p:spPr>
          <a:xfrm>
            <a:off x="6812280" y="5120640"/>
            <a:ext cx="4663440" cy="914400"/>
          </a:xfrm>
          <a:prstGeom prst="rect">
            <a:avLst/>
          </a:prstGeom>
          <a:noFill/>
          <a:ln/>
        </p:spPr>
        <p:txBody>
          <a:bodyPr wrap="square" lIns="0" tIns="0" rIns="0" bIns="0" rtlCol="0" anchor="t"/>
          <a:lstStyle/>
          <a:p>
            <a:pPr indent="0" marL="0">
              <a:buNone/>
            </a:pPr>
            <a:r>
              <a:rPr lang="en-US" sz="1200" i="1" dirty="0">
                <a:solidFill>
                  <a:schemeClr val="accent4"/>
                </a:solidFill>
              </a:rPr>
              <a:t>Our own synthetic data, so these show the method behaves as designed, not real-world accuracy. Real-data evaluation is phase 3 of the plan.</a:t>
            </a:r>
            <a:endParaRPr lang="en-US" sz="12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03920" cy="86868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Feasibility and execution plan</a:t>
            </a:r>
            <a:endParaRPr lang="en-US" sz="3200" dirty="0"/>
          </a:p>
        </p:txBody>
      </p:sp>
      <p:sp>
        <p:nvSpPr>
          <p:cNvPr id="3" name="Criterion chip"/>
          <p:cNvSpPr/>
          <p:nvPr/>
        </p:nvSpPr>
        <p:spPr>
          <a:xfrm>
            <a:off x="9281160" y="502920"/>
            <a:ext cx="2359152" cy="548640"/>
          </a:xfrm>
          <a:prstGeom prst="roundRect">
            <a:avLst>
              <a:gd name="adj" fmla="val 13333"/>
            </a:avLst>
          </a:prstGeom>
          <a:solidFill>
            <a:schemeClr val="tx2"/>
          </a:solidFill>
          <a:ln w="12700">
            <a:solidFill>
              <a:srgbClr val="28414D"/>
            </a:solidFill>
            <a:prstDash val="solid"/>
          </a:ln>
        </p:spPr>
      </p:sp>
      <p:sp>
        <p:nvSpPr>
          <p:cNvPr id="4" name="Criterion label"/>
          <p:cNvSpPr txBox="1"/>
          <p:nvPr/>
        </p:nvSpPr>
        <p:spPr>
          <a:xfrm>
            <a:off x="9390888" y="530352"/>
            <a:ext cx="2194560" cy="493776"/>
          </a:xfrm>
          <a:prstGeom prst="rect">
            <a:avLst/>
          </a:prstGeom>
          <a:noFill/>
          <a:ln/>
        </p:spPr>
        <p:txBody>
          <a:bodyPr wrap="square" lIns="0" tIns="0" rIns="0" bIns="0" rtlCol="0" anchor="ctr"/>
          <a:lstStyle/>
          <a:p>
            <a:pPr indent="0" marL="0">
              <a:buNone/>
            </a:pPr>
            <a:r>
              <a:rPr lang="en-US" sz="900" b="1" spc="150" kern="0" dirty="0">
                <a:solidFill>
                  <a:schemeClr val="bg2"/>
                </a:solidFill>
              </a:rPr>
              <a:t>JUDGING CRITERION</a:t>
            </a:r>
            <a:endParaRPr lang="en-US" sz="900" dirty="0"/>
          </a:p>
          <a:p>
            <a:pPr indent="0" marL="0">
              <a:buNone/>
            </a:pPr>
            <a:r>
              <a:rPr lang="en-US" sz="1100" b="1" dirty="0">
                <a:solidFill>
                  <a:schemeClr val="accent2"/>
                </a:solidFill>
              </a:rPr>
              <a:t>Feasibility &amp; Execution · 10</a:t>
            </a:r>
            <a:endParaRPr lang="en-US" sz="900" dirty="0"/>
          </a:p>
        </p:txBody>
      </p:sp>
      <p:sp>
        <p:nvSpPr>
          <p:cNvPr id="5" name="Runs today card"/>
          <p:cNvSpPr/>
          <p:nvPr/>
        </p:nvSpPr>
        <p:spPr>
          <a:xfrm>
            <a:off x="548640" y="1371600"/>
            <a:ext cx="4709160" cy="4800600"/>
          </a:xfrm>
          <a:prstGeom prst="roundRect">
            <a:avLst>
              <a:gd name="adj" fmla="val 1553"/>
            </a:avLst>
          </a:prstGeom>
          <a:solidFill>
            <a:schemeClr val="tx2"/>
          </a:solidFill>
          <a:ln w="12700">
            <a:solidFill>
              <a:srgbClr val="28414D"/>
            </a:solidFill>
            <a:prstDash val="solid"/>
          </a:ln>
        </p:spPr>
      </p:sp>
      <p:sp>
        <p:nvSpPr>
          <p:cNvPr id="6" name="Runs today heading"/>
          <p:cNvSpPr txBox="1"/>
          <p:nvPr/>
        </p:nvSpPr>
        <p:spPr>
          <a:xfrm>
            <a:off x="777240" y="1481328"/>
            <a:ext cx="4297680" cy="292608"/>
          </a:xfrm>
          <a:prstGeom prst="rect">
            <a:avLst/>
          </a:prstGeom>
          <a:noFill/>
          <a:ln/>
        </p:spPr>
        <p:txBody>
          <a:bodyPr wrap="square" lIns="0" tIns="0" rIns="0" bIns="0" rtlCol="0" anchor="ctr"/>
          <a:lstStyle/>
          <a:p>
            <a:pPr indent="0" marL="0">
              <a:buNone/>
            </a:pPr>
            <a:r>
              <a:rPr lang="en-US" sz="1000" b="1" spc="150" kern="0" dirty="0">
                <a:solidFill>
                  <a:schemeClr val="accent2"/>
                </a:solidFill>
              </a:rPr>
              <a:t>PROOF OF CONCEPT IN PLACE</a:t>
            </a:r>
            <a:endParaRPr lang="en-US" sz="1000" dirty="0"/>
          </a:p>
        </p:txBody>
      </p:sp>
      <p:pic>
        <p:nvPicPr>
          <p:cNvPr id="7" name="Check 1" descr="preencoded.png">    </p:cNvPr>
          <p:cNvPicPr>
            <a:picLocks noChangeAspect="1"/>
          </p:cNvPicPr>
          <p:nvPr/>
        </p:nvPicPr>
        <p:blipFill>
          <a:blip r:embed="rId1"/>
          <a:stretch>
            <a:fillRect/>
          </a:stretch>
        </p:blipFill>
        <p:spPr>
          <a:xfrm>
            <a:off x="777240" y="1929384"/>
            <a:ext cx="256032" cy="256032"/>
          </a:xfrm>
          <a:prstGeom prst="rect">
            <a:avLst/>
          </a:prstGeom>
        </p:spPr>
      </p:pic>
      <p:sp>
        <p:nvSpPr>
          <p:cNvPr id="8" name="Today 1"/>
          <p:cNvSpPr txBox="1"/>
          <p:nvPr/>
        </p:nvSpPr>
        <p:spPr>
          <a:xfrm>
            <a:off x="1170432" y="1874520"/>
            <a:ext cx="3931920" cy="749808"/>
          </a:xfrm>
          <a:prstGeom prst="rect">
            <a:avLst/>
          </a:prstGeom>
          <a:noFill/>
          <a:ln/>
        </p:spPr>
        <p:txBody>
          <a:bodyPr wrap="square" lIns="0" tIns="0" rIns="0" bIns="0" rtlCol="0" anchor="t"/>
          <a:lstStyle/>
          <a:p>
            <a:pPr indent="0" marL="0">
              <a:buNone/>
            </a:pPr>
            <a:r>
              <a:rPr lang="en-US" sz="1400" dirty="0">
                <a:solidFill>
                  <a:schemeClr val="bg1"/>
                </a:solidFill>
              </a:rPr>
              <a:t>Laptop + open-source Python; no paid API, no data leaves the machine</a:t>
            </a:r>
            <a:endParaRPr lang="en-US" sz="1400" dirty="0"/>
          </a:p>
        </p:txBody>
      </p:sp>
      <p:pic>
        <p:nvPicPr>
          <p:cNvPr id="9" name="Check 2" descr="preencoded.png">    </p:cNvPr>
          <p:cNvPicPr>
            <a:picLocks noChangeAspect="1"/>
          </p:cNvPicPr>
          <p:nvPr/>
        </p:nvPicPr>
        <p:blipFill>
          <a:blip r:embed="rId2"/>
          <a:stretch>
            <a:fillRect/>
          </a:stretch>
        </p:blipFill>
        <p:spPr>
          <a:xfrm>
            <a:off x="777240" y="2770632"/>
            <a:ext cx="256032" cy="256032"/>
          </a:xfrm>
          <a:prstGeom prst="rect">
            <a:avLst/>
          </a:prstGeom>
        </p:spPr>
      </p:pic>
      <p:sp>
        <p:nvSpPr>
          <p:cNvPr id="10" name="Today 2"/>
          <p:cNvSpPr txBox="1"/>
          <p:nvPr/>
        </p:nvSpPr>
        <p:spPr>
          <a:xfrm>
            <a:off x="1170432" y="2715768"/>
            <a:ext cx="3931920" cy="749808"/>
          </a:xfrm>
          <a:prstGeom prst="rect">
            <a:avLst/>
          </a:prstGeom>
          <a:noFill/>
          <a:ln/>
        </p:spPr>
        <p:txBody>
          <a:bodyPr wrap="square" lIns="0" tIns="0" rIns="0" bIns="0" rtlCol="0" anchor="t"/>
          <a:lstStyle/>
          <a:p>
            <a:pPr indent="0" marL="0">
              <a:buNone/>
            </a:pPr>
            <a:r>
              <a:rPr lang="en-US" sz="1400" dirty="0">
                <a:solidFill>
                  <a:schemeClr val="bg1"/>
                </a:solidFill>
              </a:rPr>
              <a:t>CSV import, plus an importer for a public real-world ILI dataset (Mendeley, CC BY 4.0)</a:t>
            </a:r>
            <a:endParaRPr lang="en-US" sz="1400" dirty="0"/>
          </a:p>
        </p:txBody>
      </p:sp>
      <p:pic>
        <p:nvPicPr>
          <p:cNvPr id="11" name="Check 3" descr="preencoded.png">    </p:cNvPr>
          <p:cNvPicPr>
            <a:picLocks noChangeAspect="1"/>
          </p:cNvPicPr>
          <p:nvPr/>
        </p:nvPicPr>
        <p:blipFill>
          <a:blip r:embed="rId3"/>
          <a:stretch>
            <a:fillRect/>
          </a:stretch>
        </p:blipFill>
        <p:spPr>
          <a:xfrm>
            <a:off x="777240" y="3611880"/>
            <a:ext cx="256032" cy="256032"/>
          </a:xfrm>
          <a:prstGeom prst="rect">
            <a:avLst/>
          </a:prstGeom>
        </p:spPr>
      </p:pic>
      <p:sp>
        <p:nvSpPr>
          <p:cNvPr id="12" name="Today 3"/>
          <p:cNvSpPr txBox="1"/>
          <p:nvPr/>
        </p:nvSpPr>
        <p:spPr>
          <a:xfrm>
            <a:off x="1170432" y="3557016"/>
            <a:ext cx="3931920" cy="749808"/>
          </a:xfrm>
          <a:prstGeom prst="rect">
            <a:avLst/>
          </a:prstGeom>
          <a:noFill/>
          <a:ln/>
        </p:spPr>
        <p:txBody>
          <a:bodyPr wrap="square" lIns="0" tIns="0" rIns="0" bIns="0" rtlCol="0" anchor="t"/>
          <a:lstStyle/>
          <a:p>
            <a:pPr indent="0" marL="0">
              <a:buNone/>
            </a:pPr>
            <a:r>
              <a:rPr lang="en-US" sz="1400" dirty="0">
                <a:solidFill>
                  <a:schemeClr val="bg1"/>
                </a:solidFill>
              </a:rPr>
              <a:t>Sign-in with hashed passwords, 4 roles, server-side permission checks, audit log</a:t>
            </a:r>
            <a:endParaRPr lang="en-US" sz="1400" dirty="0"/>
          </a:p>
        </p:txBody>
      </p:sp>
      <p:pic>
        <p:nvPicPr>
          <p:cNvPr id="13" name="Check 4" descr="preencoded.png">    </p:cNvPr>
          <p:cNvPicPr>
            <a:picLocks noChangeAspect="1"/>
          </p:cNvPicPr>
          <p:nvPr/>
        </p:nvPicPr>
        <p:blipFill>
          <a:blip r:embed="rId4"/>
          <a:stretch>
            <a:fillRect/>
          </a:stretch>
        </p:blipFill>
        <p:spPr>
          <a:xfrm>
            <a:off x="777240" y="4453128"/>
            <a:ext cx="256032" cy="256032"/>
          </a:xfrm>
          <a:prstGeom prst="rect">
            <a:avLst/>
          </a:prstGeom>
        </p:spPr>
      </p:pic>
      <p:sp>
        <p:nvSpPr>
          <p:cNvPr id="14" name="Today 4"/>
          <p:cNvSpPr txBox="1"/>
          <p:nvPr/>
        </p:nvSpPr>
        <p:spPr>
          <a:xfrm>
            <a:off x="1170432" y="4398264"/>
            <a:ext cx="3931920" cy="749808"/>
          </a:xfrm>
          <a:prstGeom prst="rect">
            <a:avLst/>
          </a:prstGeom>
          <a:noFill/>
          <a:ln/>
        </p:spPr>
        <p:txBody>
          <a:bodyPr wrap="square" lIns="0" tIns="0" rIns="0" bIns="0" rtlCol="0" anchor="t"/>
          <a:lstStyle/>
          <a:p>
            <a:pPr indent="0" marL="0">
              <a:buNone/>
            </a:pPr>
            <a:r>
              <a:rPr lang="en-US" sz="1400" dirty="0">
                <a:solidFill>
                  <a:schemeClr val="bg1"/>
                </a:solidFill>
              </a:rPr>
              <a:t>280 automated tests; exact snapshot replay</a:t>
            </a:r>
            <a:endParaRPr lang="en-US" sz="1400" dirty="0"/>
          </a:p>
        </p:txBody>
      </p:sp>
      <p:pic>
        <p:nvPicPr>
          <p:cNvPr id="15" name="Check 5" descr="preencoded.png">    </p:cNvPr>
          <p:cNvPicPr>
            <a:picLocks noChangeAspect="1"/>
          </p:cNvPicPr>
          <p:nvPr/>
        </p:nvPicPr>
        <p:blipFill>
          <a:blip r:embed="rId5"/>
          <a:stretch>
            <a:fillRect/>
          </a:stretch>
        </p:blipFill>
        <p:spPr>
          <a:xfrm>
            <a:off x="777240" y="5294376"/>
            <a:ext cx="256032" cy="256032"/>
          </a:xfrm>
          <a:prstGeom prst="rect">
            <a:avLst/>
          </a:prstGeom>
        </p:spPr>
      </p:pic>
      <p:sp>
        <p:nvSpPr>
          <p:cNvPr id="16" name="Today 5"/>
          <p:cNvSpPr txBox="1"/>
          <p:nvPr/>
        </p:nvSpPr>
        <p:spPr>
          <a:xfrm>
            <a:off x="1170432" y="5239512"/>
            <a:ext cx="3931920" cy="749808"/>
          </a:xfrm>
          <a:prstGeom prst="rect">
            <a:avLst/>
          </a:prstGeom>
          <a:noFill/>
          <a:ln/>
        </p:spPr>
        <p:txBody>
          <a:bodyPr wrap="square" lIns="0" tIns="0" rIns="0" bIns="0" rtlCol="0" anchor="t"/>
          <a:lstStyle/>
          <a:p>
            <a:pPr indent="0" marL="0">
              <a:buNone/>
            </a:pPr>
            <a:r>
              <a:rPr lang="en-US" sz="1400" dirty="0">
                <a:solidFill>
                  <a:schemeClr val="bg1"/>
                </a:solidFill>
              </a:rPr>
              <a:t>PDF / CSV Evidence Passport from the same analysis object</a:t>
            </a:r>
            <a:endParaRPr lang="en-US" sz="1400" dirty="0"/>
          </a:p>
        </p:txBody>
      </p:sp>
      <p:sp>
        <p:nvSpPr>
          <p:cNvPr id="17" name="Plan heading"/>
          <p:cNvSpPr txBox="1"/>
          <p:nvPr/>
        </p:nvSpPr>
        <p:spPr>
          <a:xfrm>
            <a:off x="5623560" y="1417320"/>
            <a:ext cx="6035040" cy="292608"/>
          </a:xfrm>
          <a:prstGeom prst="rect">
            <a:avLst/>
          </a:prstGeom>
          <a:noFill/>
          <a:ln/>
        </p:spPr>
        <p:txBody>
          <a:bodyPr wrap="square" lIns="0" tIns="0" rIns="0" bIns="0" rtlCol="0" anchor="ctr"/>
          <a:lstStyle/>
          <a:p>
            <a:pPr indent="0" marL="0">
              <a:buNone/>
            </a:pPr>
            <a:r>
              <a:rPr lang="en-US" sz="1000" b="1" spc="150" kern="0" dirty="0">
                <a:solidFill>
                  <a:schemeClr val="accent2"/>
                </a:solidFill>
              </a:rPr>
              <a:t>EXECUTION PLAN  ·  each phase has an exit check</a:t>
            </a:r>
            <a:endParaRPr lang="en-US" sz="1000" dirty="0"/>
          </a:p>
        </p:txBody>
      </p:sp>
      <p:sp>
        <p:nvSpPr>
          <p:cNvPr id="18" name="Timeline line"/>
          <p:cNvSpPr/>
          <p:nvPr/>
        </p:nvSpPr>
        <p:spPr>
          <a:xfrm>
            <a:off x="5824728" y="1938528"/>
            <a:ext cx="0" cy="3886200"/>
          </a:xfrm>
          <a:prstGeom prst="line">
            <a:avLst/>
          </a:prstGeom>
          <a:noFill/>
          <a:ln w="25400">
            <a:solidFill>
              <a:srgbClr val="17666A"/>
            </a:solidFill>
            <a:prstDash val="solid"/>
          </a:ln>
        </p:spPr>
      </p:sp>
      <p:sp>
        <p:nvSpPr>
          <p:cNvPr id="19" name="Phase dot 1"/>
          <p:cNvSpPr/>
          <p:nvPr/>
        </p:nvSpPr>
        <p:spPr>
          <a:xfrm>
            <a:off x="5669280" y="1856232"/>
            <a:ext cx="310896" cy="310896"/>
          </a:xfrm>
          <a:prstGeom prst="ellipse">
            <a:avLst/>
          </a:prstGeom>
          <a:solidFill>
            <a:schemeClr val="accent1"/>
          </a:solidFill>
          <a:ln w="15875">
            <a:solidFill>
              <a:srgbClr val="28B8AC"/>
            </a:solidFill>
            <a:prstDash val="solid"/>
          </a:ln>
        </p:spPr>
      </p:sp>
      <p:sp>
        <p:nvSpPr>
          <p:cNvPr id="20" name="Phase num 1"/>
          <p:cNvSpPr txBox="1"/>
          <p:nvPr/>
        </p:nvSpPr>
        <p:spPr>
          <a:xfrm>
            <a:off x="5669280" y="1856232"/>
            <a:ext cx="310896" cy="310896"/>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21" name="Phase text 1"/>
          <p:cNvSpPr txBox="1"/>
          <p:nvPr/>
        </p:nvSpPr>
        <p:spPr>
          <a:xfrm>
            <a:off x="6172200" y="1773936"/>
            <a:ext cx="5468112" cy="676656"/>
          </a:xfrm>
          <a:prstGeom prst="rect">
            <a:avLst/>
          </a:prstGeom>
          <a:noFill/>
          <a:ln/>
        </p:spPr>
        <p:txBody>
          <a:bodyPr wrap="square" lIns="0" tIns="0" rIns="0" bIns="0" rtlCol="0" anchor="t"/>
          <a:lstStyle/>
          <a:p>
            <a:pPr indent="0" marL="0">
              <a:buNone/>
            </a:pPr>
            <a:r>
              <a:rPr lang="en-US" sz="1500" b="1" dirty="0">
                <a:solidFill>
                  <a:schemeClr val="bg1"/>
                </a:solidFill>
              </a:rPr>
              <a:t>Stabilise the prototype</a:t>
            </a:r>
            <a:endParaRPr lang="en-US" sz="1500" dirty="0"/>
          </a:p>
          <a:p>
            <a:pPr indent="0" marL="0">
              <a:buNone/>
            </a:pPr>
            <a:r>
              <a:rPr lang="en-US" sz="1200" dirty="0">
                <a:solidFill>
                  <a:schemeClr val="bg2"/>
                </a:solidFill>
              </a:rPr>
              <a:t>Freeze v1.0; regression tests stay green</a:t>
            </a:r>
            <a:endParaRPr lang="en-US" sz="1500" dirty="0"/>
          </a:p>
        </p:txBody>
      </p:sp>
      <p:sp>
        <p:nvSpPr>
          <p:cNvPr id="22" name="Phase dot 2"/>
          <p:cNvSpPr/>
          <p:nvPr/>
        </p:nvSpPr>
        <p:spPr>
          <a:xfrm>
            <a:off x="5669280" y="2542032"/>
            <a:ext cx="310896" cy="310896"/>
          </a:xfrm>
          <a:prstGeom prst="ellipse">
            <a:avLst/>
          </a:prstGeom>
          <a:solidFill>
            <a:schemeClr val="tx1"/>
          </a:solidFill>
          <a:ln w="15875">
            <a:solidFill>
              <a:srgbClr val="28B8AC"/>
            </a:solidFill>
            <a:prstDash val="solid"/>
          </a:ln>
        </p:spPr>
      </p:sp>
      <p:sp>
        <p:nvSpPr>
          <p:cNvPr id="23" name="Phase num 2"/>
          <p:cNvSpPr txBox="1"/>
          <p:nvPr/>
        </p:nvSpPr>
        <p:spPr>
          <a:xfrm>
            <a:off x="5669280" y="2542032"/>
            <a:ext cx="310896" cy="310896"/>
          </a:xfrm>
          <a:prstGeom prst="rect">
            <a:avLst/>
          </a:prstGeom>
          <a:noFill/>
          <a:ln/>
        </p:spPr>
        <p:txBody>
          <a:bodyPr wrap="square" lIns="0" tIns="0" rIns="0" bIns="0" rtlCol="0" anchor="ctr"/>
          <a:lstStyle/>
          <a:p>
            <a:pPr algn="ctr" indent="0" marL="0">
              <a:buNone/>
            </a:pPr>
            <a:r>
              <a:rPr lang="en-US" sz="1100" b="1" dirty="0">
                <a:solidFill>
                  <a:schemeClr val="accent2"/>
                </a:solidFill>
              </a:rPr>
              <a:t>2</a:t>
            </a:r>
            <a:endParaRPr lang="en-US" sz="1100" dirty="0"/>
          </a:p>
        </p:txBody>
      </p:sp>
      <p:sp>
        <p:nvSpPr>
          <p:cNvPr id="24" name="Phase text 2"/>
          <p:cNvSpPr txBox="1"/>
          <p:nvPr/>
        </p:nvSpPr>
        <p:spPr>
          <a:xfrm>
            <a:off x="6172200" y="2459736"/>
            <a:ext cx="5468112" cy="676656"/>
          </a:xfrm>
          <a:prstGeom prst="rect">
            <a:avLst/>
          </a:prstGeom>
          <a:noFill/>
          <a:ln/>
        </p:spPr>
        <p:txBody>
          <a:bodyPr wrap="square" lIns="0" tIns="0" rIns="0" bIns="0" rtlCol="0" anchor="t"/>
          <a:lstStyle/>
          <a:p>
            <a:pPr indent="0" marL="0">
              <a:buNone/>
            </a:pPr>
            <a:r>
              <a:rPr lang="en-US" sz="1500" b="1" dirty="0">
                <a:solidFill>
                  <a:schemeClr val="bg1"/>
                </a:solidFill>
              </a:rPr>
              <a:t>Test on controlled data</a:t>
            </a:r>
            <a:endParaRPr lang="en-US" sz="1500" dirty="0"/>
          </a:p>
          <a:p>
            <a:pPr indent="0" marL="0">
              <a:buNone/>
            </a:pPr>
            <a:r>
              <a:rPr lang="en-US" sz="1200" dirty="0">
                <a:solidFill>
                  <a:schemeClr val="bg2"/>
                </a:solidFill>
              </a:rPr>
              <a:t>Seeded drift, ambiguity and noise cases with known answers</a:t>
            </a:r>
            <a:endParaRPr lang="en-US" sz="1500" dirty="0"/>
          </a:p>
        </p:txBody>
      </p:sp>
      <p:sp>
        <p:nvSpPr>
          <p:cNvPr id="25" name="Phase dot 3"/>
          <p:cNvSpPr/>
          <p:nvPr/>
        </p:nvSpPr>
        <p:spPr>
          <a:xfrm>
            <a:off x="5669280" y="3227832"/>
            <a:ext cx="310896" cy="310896"/>
          </a:xfrm>
          <a:prstGeom prst="ellipse">
            <a:avLst/>
          </a:prstGeom>
          <a:solidFill>
            <a:schemeClr val="tx1"/>
          </a:solidFill>
          <a:ln w="15875">
            <a:solidFill>
              <a:srgbClr val="28B8AC"/>
            </a:solidFill>
            <a:prstDash val="solid"/>
          </a:ln>
        </p:spPr>
      </p:sp>
      <p:sp>
        <p:nvSpPr>
          <p:cNvPr id="26" name="Phase num 3"/>
          <p:cNvSpPr txBox="1"/>
          <p:nvPr/>
        </p:nvSpPr>
        <p:spPr>
          <a:xfrm>
            <a:off x="5669280" y="3227832"/>
            <a:ext cx="310896" cy="310896"/>
          </a:xfrm>
          <a:prstGeom prst="rect">
            <a:avLst/>
          </a:prstGeom>
          <a:noFill/>
          <a:ln/>
        </p:spPr>
        <p:txBody>
          <a:bodyPr wrap="square" lIns="0" tIns="0" rIns="0" bIns="0" rtlCol="0" anchor="ctr"/>
          <a:lstStyle/>
          <a:p>
            <a:pPr algn="ctr" indent="0" marL="0">
              <a:buNone/>
            </a:pPr>
            <a:r>
              <a:rPr lang="en-US" sz="1100" b="1" dirty="0">
                <a:solidFill>
                  <a:schemeClr val="accent2"/>
                </a:solidFill>
              </a:rPr>
              <a:t>3</a:t>
            </a:r>
            <a:endParaRPr lang="en-US" sz="1100" dirty="0"/>
          </a:p>
        </p:txBody>
      </p:sp>
      <p:sp>
        <p:nvSpPr>
          <p:cNvPr id="27" name="Phase text 3"/>
          <p:cNvSpPr txBox="1"/>
          <p:nvPr/>
        </p:nvSpPr>
        <p:spPr>
          <a:xfrm>
            <a:off x="6172200" y="3145536"/>
            <a:ext cx="5468112" cy="676656"/>
          </a:xfrm>
          <a:prstGeom prst="rect">
            <a:avLst/>
          </a:prstGeom>
          <a:noFill/>
          <a:ln/>
        </p:spPr>
        <p:txBody>
          <a:bodyPr wrap="square" lIns="0" tIns="0" rIns="0" bIns="0" rtlCol="0" anchor="t"/>
          <a:lstStyle/>
          <a:p>
            <a:pPr indent="0" marL="0">
              <a:buNone/>
            </a:pPr>
            <a:r>
              <a:rPr lang="en-US" sz="1500" b="1" dirty="0">
                <a:solidFill>
                  <a:schemeClr val="bg1"/>
                </a:solidFill>
              </a:rPr>
              <a:t>Evaluate on representative data</a:t>
            </a:r>
            <a:endParaRPr lang="en-US" sz="1500" dirty="0"/>
          </a:p>
          <a:p>
            <a:pPr indent="0" marL="0">
              <a:buNone/>
            </a:pPr>
            <a:r>
              <a:rPr lang="en-US" sz="1200" dirty="0">
                <a:solidFill>
                  <a:schemeClr val="bg2"/>
                </a:solidFill>
              </a:rPr>
              <a:t>Real ILI listings; expert-labelled pairs for precision / recall</a:t>
            </a:r>
            <a:endParaRPr lang="en-US" sz="1500" dirty="0"/>
          </a:p>
        </p:txBody>
      </p:sp>
      <p:sp>
        <p:nvSpPr>
          <p:cNvPr id="28" name="Phase dot 4"/>
          <p:cNvSpPr/>
          <p:nvPr/>
        </p:nvSpPr>
        <p:spPr>
          <a:xfrm>
            <a:off x="5669280" y="3913632"/>
            <a:ext cx="310896" cy="310896"/>
          </a:xfrm>
          <a:prstGeom prst="ellipse">
            <a:avLst/>
          </a:prstGeom>
          <a:solidFill>
            <a:schemeClr val="tx1"/>
          </a:solidFill>
          <a:ln w="15875">
            <a:solidFill>
              <a:srgbClr val="28B8AC"/>
            </a:solidFill>
            <a:prstDash val="solid"/>
          </a:ln>
        </p:spPr>
      </p:sp>
      <p:sp>
        <p:nvSpPr>
          <p:cNvPr id="29" name="Phase num 4"/>
          <p:cNvSpPr txBox="1"/>
          <p:nvPr/>
        </p:nvSpPr>
        <p:spPr>
          <a:xfrm>
            <a:off x="5669280" y="3913632"/>
            <a:ext cx="310896" cy="310896"/>
          </a:xfrm>
          <a:prstGeom prst="rect">
            <a:avLst/>
          </a:prstGeom>
          <a:noFill/>
          <a:ln/>
        </p:spPr>
        <p:txBody>
          <a:bodyPr wrap="square" lIns="0" tIns="0" rIns="0" bIns="0" rtlCol="0" anchor="ctr"/>
          <a:lstStyle/>
          <a:p>
            <a:pPr algn="ctr" indent="0" marL="0">
              <a:buNone/>
            </a:pPr>
            <a:r>
              <a:rPr lang="en-US" sz="1100" b="1" dirty="0">
                <a:solidFill>
                  <a:schemeClr val="accent2"/>
                </a:solidFill>
              </a:rPr>
              <a:t>4</a:t>
            </a:r>
            <a:endParaRPr lang="en-US" sz="1100" dirty="0"/>
          </a:p>
        </p:txBody>
      </p:sp>
      <p:sp>
        <p:nvSpPr>
          <p:cNvPr id="30" name="Phase text 4"/>
          <p:cNvSpPr txBox="1"/>
          <p:nvPr/>
        </p:nvSpPr>
        <p:spPr>
          <a:xfrm>
            <a:off x="6172200" y="3831336"/>
            <a:ext cx="5468112" cy="676656"/>
          </a:xfrm>
          <a:prstGeom prst="rect">
            <a:avLst/>
          </a:prstGeom>
          <a:noFill/>
          <a:ln/>
        </p:spPr>
        <p:txBody>
          <a:bodyPr wrap="square" lIns="0" tIns="0" rIns="0" bIns="0" rtlCol="0" anchor="t"/>
          <a:lstStyle/>
          <a:p>
            <a:pPr indent="0" marL="0">
              <a:buNone/>
            </a:pPr>
            <a:r>
              <a:rPr lang="en-US" sz="1500" b="1" dirty="0">
                <a:solidFill>
                  <a:schemeClr val="bg1"/>
                </a:solidFill>
              </a:rPr>
              <a:t>Domain-expert review</a:t>
            </a:r>
            <a:endParaRPr lang="en-US" sz="1500" dirty="0"/>
          </a:p>
          <a:p>
            <a:pPr indent="0" marL="0">
              <a:buNone/>
            </a:pPr>
            <a:r>
              <a:rPr lang="en-US" sz="1200" dirty="0">
                <a:solidFill>
                  <a:schemeClr val="bg2"/>
                </a:solidFill>
              </a:rPr>
              <a:t>Integrity engineers check thresholds, rules and outputs</a:t>
            </a:r>
            <a:endParaRPr lang="en-US" sz="1500" dirty="0"/>
          </a:p>
        </p:txBody>
      </p:sp>
      <p:sp>
        <p:nvSpPr>
          <p:cNvPr id="31" name="Phase dot 5"/>
          <p:cNvSpPr/>
          <p:nvPr/>
        </p:nvSpPr>
        <p:spPr>
          <a:xfrm>
            <a:off x="5669280" y="4599432"/>
            <a:ext cx="310896" cy="310896"/>
          </a:xfrm>
          <a:prstGeom prst="ellipse">
            <a:avLst/>
          </a:prstGeom>
          <a:solidFill>
            <a:schemeClr val="tx1"/>
          </a:solidFill>
          <a:ln w="15875">
            <a:solidFill>
              <a:srgbClr val="28B8AC"/>
            </a:solidFill>
            <a:prstDash val="solid"/>
          </a:ln>
        </p:spPr>
      </p:sp>
      <p:sp>
        <p:nvSpPr>
          <p:cNvPr id="32" name="Phase num 5"/>
          <p:cNvSpPr txBox="1"/>
          <p:nvPr/>
        </p:nvSpPr>
        <p:spPr>
          <a:xfrm>
            <a:off x="5669280" y="4599432"/>
            <a:ext cx="310896" cy="310896"/>
          </a:xfrm>
          <a:prstGeom prst="rect">
            <a:avLst/>
          </a:prstGeom>
          <a:noFill/>
          <a:ln/>
        </p:spPr>
        <p:txBody>
          <a:bodyPr wrap="square" lIns="0" tIns="0" rIns="0" bIns="0" rtlCol="0" anchor="ctr"/>
          <a:lstStyle/>
          <a:p>
            <a:pPr algn="ctr" indent="0" marL="0">
              <a:buNone/>
            </a:pPr>
            <a:r>
              <a:rPr lang="en-US" sz="1100" b="1" dirty="0">
                <a:solidFill>
                  <a:schemeClr val="accent2"/>
                </a:solidFill>
              </a:rPr>
              <a:t>5</a:t>
            </a:r>
            <a:endParaRPr lang="en-US" sz="1100" dirty="0"/>
          </a:p>
        </p:txBody>
      </p:sp>
      <p:sp>
        <p:nvSpPr>
          <p:cNvPr id="33" name="Phase text 5"/>
          <p:cNvSpPr txBox="1"/>
          <p:nvPr/>
        </p:nvSpPr>
        <p:spPr>
          <a:xfrm>
            <a:off x="6172200" y="4517136"/>
            <a:ext cx="5468112" cy="676656"/>
          </a:xfrm>
          <a:prstGeom prst="rect">
            <a:avLst/>
          </a:prstGeom>
          <a:noFill/>
          <a:ln/>
        </p:spPr>
        <p:txBody>
          <a:bodyPr wrap="square" lIns="0" tIns="0" rIns="0" bIns="0" rtlCol="0" anchor="t"/>
          <a:lstStyle/>
          <a:p>
            <a:pPr indent="0" marL="0">
              <a:buNone/>
            </a:pPr>
            <a:r>
              <a:rPr lang="en-US" sz="1500" b="1" dirty="0">
                <a:solidFill>
                  <a:schemeClr val="bg1"/>
                </a:solidFill>
              </a:rPr>
              <a:t>Controlled pilot</a:t>
            </a:r>
            <a:endParaRPr lang="en-US" sz="1500" dirty="0"/>
          </a:p>
          <a:p>
            <a:pPr indent="0" marL="0">
              <a:buNone/>
            </a:pPr>
            <a:r>
              <a:rPr lang="en-US" sz="1200" dirty="0">
                <a:solidFill>
                  <a:schemeClr val="bg2"/>
                </a:solidFill>
              </a:rPr>
              <a:t>One line, side by side with the current process; log disagreements</a:t>
            </a:r>
            <a:endParaRPr lang="en-US" sz="1500" dirty="0"/>
          </a:p>
        </p:txBody>
      </p:sp>
      <p:sp>
        <p:nvSpPr>
          <p:cNvPr id="34" name="Phase dot 6"/>
          <p:cNvSpPr/>
          <p:nvPr/>
        </p:nvSpPr>
        <p:spPr>
          <a:xfrm>
            <a:off x="5669280" y="5285232"/>
            <a:ext cx="310896" cy="310896"/>
          </a:xfrm>
          <a:prstGeom prst="ellipse">
            <a:avLst/>
          </a:prstGeom>
          <a:solidFill>
            <a:schemeClr val="tx1"/>
          </a:solidFill>
          <a:ln w="15875">
            <a:solidFill>
              <a:srgbClr val="28B8AC"/>
            </a:solidFill>
            <a:prstDash val="solid"/>
          </a:ln>
        </p:spPr>
      </p:sp>
      <p:sp>
        <p:nvSpPr>
          <p:cNvPr id="35" name="Phase num 6"/>
          <p:cNvSpPr txBox="1"/>
          <p:nvPr/>
        </p:nvSpPr>
        <p:spPr>
          <a:xfrm>
            <a:off x="5669280" y="5285232"/>
            <a:ext cx="310896" cy="310896"/>
          </a:xfrm>
          <a:prstGeom prst="rect">
            <a:avLst/>
          </a:prstGeom>
          <a:noFill/>
          <a:ln/>
        </p:spPr>
        <p:txBody>
          <a:bodyPr wrap="square" lIns="0" tIns="0" rIns="0" bIns="0" rtlCol="0" anchor="ctr"/>
          <a:lstStyle/>
          <a:p>
            <a:pPr algn="ctr" indent="0" marL="0">
              <a:buNone/>
            </a:pPr>
            <a:r>
              <a:rPr lang="en-US" sz="1100" b="1" dirty="0">
                <a:solidFill>
                  <a:schemeClr val="accent2"/>
                </a:solidFill>
              </a:rPr>
              <a:t>6</a:t>
            </a:r>
            <a:endParaRPr lang="en-US" sz="1100" dirty="0"/>
          </a:p>
        </p:txBody>
      </p:sp>
      <p:sp>
        <p:nvSpPr>
          <p:cNvPr id="36" name="Phase text 6"/>
          <p:cNvSpPr txBox="1"/>
          <p:nvPr/>
        </p:nvSpPr>
        <p:spPr>
          <a:xfrm>
            <a:off x="6172200" y="5202936"/>
            <a:ext cx="5468112" cy="676656"/>
          </a:xfrm>
          <a:prstGeom prst="rect">
            <a:avLst/>
          </a:prstGeom>
          <a:noFill/>
          <a:ln/>
        </p:spPr>
        <p:txBody>
          <a:bodyPr wrap="square" lIns="0" tIns="0" rIns="0" bIns="0" rtlCol="0" anchor="t"/>
          <a:lstStyle/>
          <a:p>
            <a:pPr indent="0" marL="0">
              <a:buNone/>
            </a:pPr>
            <a:r>
              <a:rPr lang="en-US" sz="1500" b="1" dirty="0">
                <a:solidFill>
                  <a:schemeClr val="bg1"/>
                </a:solidFill>
              </a:rPr>
              <a:t>Production readiness</a:t>
            </a:r>
            <a:endParaRPr lang="en-US" sz="1500" dirty="0"/>
          </a:p>
          <a:p>
            <a:pPr indent="0" marL="0">
              <a:buNone/>
            </a:pPr>
            <a:r>
              <a:rPr lang="en-US" sz="1200" dirty="0">
                <a:solidFill>
                  <a:schemeClr val="bg2"/>
                </a:solidFill>
              </a:rPr>
              <a:t>SSO / MFA, database, encryption, governance, organisational approval</a:t>
            </a:r>
            <a:endParaRPr lang="en-US" sz="1500" dirty="0"/>
          </a:p>
        </p:txBody>
      </p:sp>
      <p:sp>
        <p:nvSpPr>
          <p:cNvPr id="37" name="Known gaps"/>
          <p:cNvSpPr txBox="1"/>
          <p:nvPr/>
        </p:nvSpPr>
        <p:spPr>
          <a:xfrm>
            <a:off x="5623560" y="5943600"/>
            <a:ext cx="6035040" cy="365760"/>
          </a:xfrm>
          <a:prstGeom prst="rect">
            <a:avLst/>
          </a:prstGeom>
          <a:noFill/>
          <a:ln/>
        </p:spPr>
        <p:txBody>
          <a:bodyPr wrap="square" lIns="0" tIns="0" rIns="0" bIns="0" rtlCol="0" anchor="ctr"/>
          <a:lstStyle/>
          <a:p>
            <a:pPr indent="0" marL="0">
              <a:buNone/>
            </a:pPr>
            <a:r>
              <a:rPr lang="en-US" sz="1100" dirty="0">
                <a:solidFill>
                  <a:schemeClr val="accent4"/>
                </a:solidFill>
              </a:rPr>
              <a:t>Known gaps: weld-based alignment, tool-bias correction, 3+ run growth. Remaining-strength methods are out of scope.</a:t>
            </a:r>
            <a:endParaRPr lang="en-US" sz="1100" dirty="0"/>
          </a:p>
        </p:txBody>
      </p:sp>
      <p:sp>
        <p:nvSpPr>
          <p:cNvPr id="25" name="Slide Number Placeholder 0"/>
          <p:cNvSpPr>
            <a:spLocks noGrp="1"/>
          </p:cNvSpPr>
          <p:nvPr>
            <p:ph type="sldNum" sz="quarter" idx="4294967295"/>
          </p:nvPr>
        </p:nvSpPr>
        <p:spPr>
          <a:xfrm>
            <a:off x="11201400" y="6364224"/>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3D pipeline closing visual" descr="/tmp/claude-0/-home-claude/c1e714b0-ac62-5293-9bb6-daaf9b70ecba/scratchpad/m3d/deck/hero_band.png">    </p:cNvPr>
          <p:cNvPicPr>
            <a:picLocks noChangeAspect="1"/>
          </p:cNvPicPr>
          <p:nvPr/>
        </p:nvPicPr>
        <p:blipFill>
          <a:blip r:embed="rId1">
            <a:alphaModFix amt="80000"/>
          </a:blip>
          <a:stretch>
            <a:fillRect/>
          </a:stretch>
        </p:blipFill>
        <p:spPr>
          <a:xfrm>
            <a:off x="0" y="4224528"/>
            <a:ext cx="12191695" cy="2556323"/>
          </a:xfrm>
          <a:prstGeom prst="rect">
            <a:avLst/>
          </a:prstGeom>
        </p:spPr>
      </p:pic>
      <p:sp>
        <p:nvSpPr>
          <p:cNvPr id="3" name="Closing title"/>
          <p:cNvSpPr txBox="1"/>
          <p:nvPr/>
        </p:nvSpPr>
        <p:spPr>
          <a:xfrm>
            <a:off x="685800" y="411480"/>
            <a:ext cx="10789920" cy="1188720"/>
          </a:xfrm>
          <a:prstGeom prst="rect">
            <a:avLst/>
          </a:prstGeom>
          <a:noFill/>
          <a:ln/>
        </p:spPr>
        <p:txBody>
          <a:bodyPr wrap="square" lIns="0" tIns="0" rIns="0" bIns="0" rtlCol="0" anchor="ctr"/>
          <a:lstStyle/>
          <a:p>
            <a:pPr indent="0" marL="0">
              <a:buNone/>
            </a:pPr>
            <a:r>
              <a:rPr lang="en-US" sz="3600" b="1" dirty="0">
                <a:solidFill>
                  <a:schemeClr val="bg1"/>
                </a:solidFill>
                <a:latin typeface="Arial" pitchFamily="34" charset="0"/>
                <a:ea typeface="Arial" pitchFamily="34" charset="-122"/>
                <a:cs typeface="Arial" pitchFamily="34" charset="-120"/>
              </a:rPr>
              <a:t>From Inspection Data to Traceable Engineering Decisions</a:t>
            </a:r>
            <a:endParaRPr lang="en-US" sz="3600" dirty="0"/>
          </a:p>
        </p:txBody>
      </p:sp>
      <p:pic>
        <p:nvPicPr>
          <p:cNvPr id="4" name="Value icon 1" descr="preencoded.png">    </p:cNvPr>
          <p:cNvPicPr>
            <a:picLocks noChangeAspect="1"/>
          </p:cNvPicPr>
          <p:nvPr/>
        </p:nvPicPr>
        <p:blipFill>
          <a:blip r:embed="rId2"/>
          <a:stretch>
            <a:fillRect/>
          </a:stretch>
        </p:blipFill>
        <p:spPr>
          <a:xfrm>
            <a:off x="685800" y="1847088"/>
            <a:ext cx="274320" cy="274320"/>
          </a:xfrm>
          <a:prstGeom prst="rect">
            <a:avLst/>
          </a:prstGeom>
        </p:spPr>
      </p:pic>
      <p:sp>
        <p:nvSpPr>
          <p:cNvPr id="5" name="Value 1"/>
          <p:cNvSpPr txBox="1"/>
          <p:nvPr/>
        </p:nvSpPr>
        <p:spPr>
          <a:xfrm>
            <a:off x="1097280" y="1783080"/>
            <a:ext cx="3200400" cy="411480"/>
          </a:xfrm>
          <a:prstGeom prst="rect">
            <a:avLst/>
          </a:prstGeom>
          <a:noFill/>
          <a:ln/>
        </p:spPr>
        <p:txBody>
          <a:bodyPr wrap="square" lIns="0" tIns="0" rIns="0" bIns="0" rtlCol="0" anchor="ctr"/>
          <a:lstStyle/>
          <a:p>
            <a:pPr indent="0" marL="0">
              <a:buNone/>
            </a:pPr>
            <a:r>
              <a:rPr lang="en-US" sz="1500" dirty="0">
                <a:solidFill>
                  <a:schemeClr val="bg1"/>
                </a:solidFill>
              </a:rPr>
              <a:t>Connects evidence across inspection runs</a:t>
            </a:r>
            <a:endParaRPr lang="en-US" sz="1500" dirty="0"/>
          </a:p>
        </p:txBody>
      </p:sp>
      <p:pic>
        <p:nvPicPr>
          <p:cNvPr id="6" name="Value icon 2" descr="preencoded.png">    </p:cNvPr>
          <p:cNvPicPr>
            <a:picLocks noChangeAspect="1"/>
          </p:cNvPicPr>
          <p:nvPr/>
        </p:nvPicPr>
        <p:blipFill>
          <a:blip r:embed="rId3"/>
          <a:stretch>
            <a:fillRect/>
          </a:stretch>
        </p:blipFill>
        <p:spPr>
          <a:xfrm>
            <a:off x="4343400" y="1847088"/>
            <a:ext cx="274320" cy="274320"/>
          </a:xfrm>
          <a:prstGeom prst="rect">
            <a:avLst/>
          </a:prstGeom>
        </p:spPr>
      </p:pic>
      <p:sp>
        <p:nvSpPr>
          <p:cNvPr id="7" name="Value 2"/>
          <p:cNvSpPr txBox="1"/>
          <p:nvPr/>
        </p:nvSpPr>
        <p:spPr>
          <a:xfrm>
            <a:off x="4754880" y="1783080"/>
            <a:ext cx="3200400" cy="411480"/>
          </a:xfrm>
          <a:prstGeom prst="rect">
            <a:avLst/>
          </a:prstGeom>
          <a:noFill/>
          <a:ln/>
        </p:spPr>
        <p:txBody>
          <a:bodyPr wrap="square" lIns="0" tIns="0" rIns="0" bIns="0" rtlCol="0" anchor="ctr"/>
          <a:lstStyle/>
          <a:p>
            <a:pPr indent="0" marL="0">
              <a:buNone/>
            </a:pPr>
            <a:r>
              <a:rPr lang="en-US" sz="1500" dirty="0">
                <a:solidFill>
                  <a:schemeClr val="bg1"/>
                </a:solidFill>
              </a:rPr>
              <a:t>Makes measurement uncertainty visible</a:t>
            </a:r>
            <a:endParaRPr lang="en-US" sz="1500" dirty="0"/>
          </a:p>
        </p:txBody>
      </p:sp>
      <p:pic>
        <p:nvPicPr>
          <p:cNvPr id="8" name="Value icon 3" descr="preencoded.png">    </p:cNvPr>
          <p:cNvPicPr>
            <a:picLocks noChangeAspect="1"/>
          </p:cNvPicPr>
          <p:nvPr/>
        </p:nvPicPr>
        <p:blipFill>
          <a:blip r:embed="rId4"/>
          <a:stretch>
            <a:fillRect/>
          </a:stretch>
        </p:blipFill>
        <p:spPr>
          <a:xfrm>
            <a:off x="8001000" y="1847088"/>
            <a:ext cx="274320" cy="274320"/>
          </a:xfrm>
          <a:prstGeom prst="rect">
            <a:avLst/>
          </a:prstGeom>
        </p:spPr>
      </p:pic>
      <p:sp>
        <p:nvSpPr>
          <p:cNvPr id="9" name="Value 3"/>
          <p:cNvSpPr txBox="1"/>
          <p:nvPr/>
        </p:nvSpPr>
        <p:spPr>
          <a:xfrm>
            <a:off x="8412480" y="1783080"/>
            <a:ext cx="3200400" cy="411480"/>
          </a:xfrm>
          <a:prstGeom prst="rect">
            <a:avLst/>
          </a:prstGeom>
          <a:noFill/>
          <a:ln/>
        </p:spPr>
        <p:txBody>
          <a:bodyPr wrap="square" lIns="0" tIns="0" rIns="0" bIns="0" rtlCol="0" anchor="ctr"/>
          <a:lstStyle/>
          <a:p>
            <a:pPr indent="0" marL="0">
              <a:buNone/>
            </a:pPr>
            <a:r>
              <a:rPr lang="en-US" sz="1500" dirty="0">
                <a:solidFill>
                  <a:schemeClr val="bg1"/>
                </a:solidFill>
              </a:rPr>
              <a:t>Explains why findings are prioritised</a:t>
            </a:r>
            <a:endParaRPr lang="en-US" sz="1500" dirty="0"/>
          </a:p>
        </p:txBody>
      </p:sp>
      <p:pic>
        <p:nvPicPr>
          <p:cNvPr id="10" name="Value icon 4" descr="preencoded.png">    </p:cNvPr>
          <p:cNvPicPr>
            <a:picLocks noChangeAspect="1"/>
          </p:cNvPicPr>
          <p:nvPr/>
        </p:nvPicPr>
        <p:blipFill>
          <a:blip r:embed="rId5"/>
          <a:stretch>
            <a:fillRect/>
          </a:stretch>
        </p:blipFill>
        <p:spPr>
          <a:xfrm>
            <a:off x="685800" y="2395728"/>
            <a:ext cx="274320" cy="274320"/>
          </a:xfrm>
          <a:prstGeom prst="rect">
            <a:avLst/>
          </a:prstGeom>
        </p:spPr>
      </p:pic>
      <p:sp>
        <p:nvSpPr>
          <p:cNvPr id="11" name="Value 4"/>
          <p:cNvSpPr txBox="1"/>
          <p:nvPr/>
        </p:nvSpPr>
        <p:spPr>
          <a:xfrm>
            <a:off x="1097280" y="2331720"/>
            <a:ext cx="3200400" cy="411480"/>
          </a:xfrm>
          <a:prstGeom prst="rect">
            <a:avLst/>
          </a:prstGeom>
          <a:noFill/>
          <a:ln/>
        </p:spPr>
        <p:txBody>
          <a:bodyPr wrap="square" lIns="0" tIns="0" rIns="0" bIns="0" rtlCol="0" anchor="ctr"/>
          <a:lstStyle/>
          <a:p>
            <a:pPr indent="0" marL="0">
              <a:buNone/>
            </a:pPr>
            <a:r>
              <a:rPr lang="en-US" sz="1500" dirty="0">
                <a:solidFill>
                  <a:schemeClr val="bg1"/>
                </a:solidFill>
              </a:rPr>
              <a:t>Supports, never replaces, human review</a:t>
            </a:r>
            <a:endParaRPr lang="en-US" sz="1500" dirty="0"/>
          </a:p>
        </p:txBody>
      </p:sp>
      <p:pic>
        <p:nvPicPr>
          <p:cNvPr id="12" name="Value icon 5" descr="preencoded.png">    </p:cNvPr>
          <p:cNvPicPr>
            <a:picLocks noChangeAspect="1"/>
          </p:cNvPicPr>
          <p:nvPr/>
        </p:nvPicPr>
        <p:blipFill>
          <a:blip r:embed="rId6"/>
          <a:stretch>
            <a:fillRect/>
          </a:stretch>
        </p:blipFill>
        <p:spPr>
          <a:xfrm>
            <a:off x="4343400" y="2395728"/>
            <a:ext cx="274320" cy="274320"/>
          </a:xfrm>
          <a:prstGeom prst="rect">
            <a:avLst/>
          </a:prstGeom>
        </p:spPr>
      </p:pic>
      <p:sp>
        <p:nvSpPr>
          <p:cNvPr id="13" name="Value 5"/>
          <p:cNvSpPr txBox="1"/>
          <p:nvPr/>
        </p:nvSpPr>
        <p:spPr>
          <a:xfrm>
            <a:off x="4754880" y="2331720"/>
            <a:ext cx="3200400" cy="411480"/>
          </a:xfrm>
          <a:prstGeom prst="rect">
            <a:avLst/>
          </a:prstGeom>
          <a:noFill/>
          <a:ln/>
        </p:spPr>
        <p:txBody>
          <a:bodyPr wrap="square" lIns="0" tIns="0" rIns="0" bIns="0" rtlCol="0" anchor="ctr"/>
          <a:lstStyle/>
          <a:p>
            <a:pPr indent="0" marL="0">
              <a:buNone/>
            </a:pPr>
            <a:r>
              <a:rPr lang="en-US" sz="1500" dirty="0">
                <a:solidFill>
                  <a:schemeClr val="bg1"/>
                </a:solidFill>
              </a:rPr>
              <a:t>Preserves a traceable record of analysis and decisions</a:t>
            </a:r>
            <a:endParaRPr lang="en-US" sz="1500" dirty="0"/>
          </a:p>
        </p:txBody>
      </p:sp>
      <p:sp>
        <p:nvSpPr>
          <p:cNvPr id="14" name="Closing statement"/>
          <p:cNvSpPr txBox="1"/>
          <p:nvPr/>
        </p:nvSpPr>
        <p:spPr>
          <a:xfrm>
            <a:off x="685800" y="2971800"/>
            <a:ext cx="10789920" cy="868680"/>
          </a:xfrm>
          <a:prstGeom prst="rect">
            <a:avLst/>
          </a:prstGeom>
          <a:noFill/>
          <a:ln/>
        </p:spPr>
        <p:txBody>
          <a:bodyPr wrap="square" lIns="0" tIns="0" rIns="0" bIns="0" rtlCol="0" anchor="t"/>
          <a:lstStyle/>
          <a:p>
            <a:pPr indent="0" marL="0">
              <a:buNone/>
            </a:pPr>
            <a:r>
              <a:rPr lang="en-US" sz="1900" i="1" dirty="0">
                <a:solidFill>
                  <a:schemeClr val="accent2"/>
                </a:solidFill>
              </a:rPr>
              <a:t>“CorroSight does not merely predict or prioritise. It connects inspection evidence, exposes uncertainty, challenges its own analysis and helps engineers make better-informed decisions.”</a:t>
            </a:r>
            <a:endParaRPr lang="en-US" sz="1900" dirty="0"/>
          </a:p>
        </p:txBody>
      </p:sp>
      <p:sp>
        <p:nvSpPr>
          <p:cNvPr id="15" name="Thank you"/>
          <p:cNvSpPr txBox="1"/>
          <p:nvPr/>
        </p:nvSpPr>
        <p:spPr>
          <a:xfrm>
            <a:off x="685800" y="3840480"/>
            <a:ext cx="10789920" cy="320040"/>
          </a:xfrm>
          <a:prstGeom prst="rect">
            <a:avLst/>
          </a:prstGeom>
          <a:noFill/>
          <a:ln/>
        </p:spPr>
        <p:txBody>
          <a:bodyPr wrap="square" lIns="0" tIns="0" rIns="0" bIns="0" rtlCol="0" anchor="ctr"/>
          <a:lstStyle/>
          <a:p>
            <a:pPr indent="0" marL="0">
              <a:buNone/>
            </a:pPr>
            <a:r>
              <a:rPr lang="en-US" sz="1400" dirty="0">
                <a:solidFill>
                  <a:schemeClr val="bg2"/>
                </a:solidFill>
              </a:rPr>
              <a:t>Thank you  ·  Questions welcome</a:t>
            </a:r>
            <a:endParaRPr lang="en-US" sz="1400" dirty="0"/>
          </a:p>
        </p:txBody>
      </p:sp>
    </p:spTree>
  </p:cSld>
  <p:clrMapOvr>
    <a:masterClrMapping/>
  </p:clrMapOvr>
</p:sld>
</file>

<file path=ppt/theme/theme1.xml><?xml version="1.0" encoding="utf-8"?>
<a:theme xmlns:a="http://schemas.openxmlformats.org/drawingml/2006/main" name="CorroSight Dark">
  <a:themeElements>
    <a:clrScheme name="CorroSight Dark">
      <a:dk1>
        <a:srgbClr val="08131F"/>
      </a:dk1>
      <a:lt1>
        <a:srgbClr val="EAF1F4"/>
      </a:lt1>
      <a:dk2>
        <a:srgbClr val="0C1925"/>
      </a:dk2>
      <a:lt2>
        <a:srgbClr val="A8BBC5"/>
      </a:lt2>
      <a:accent1>
        <a:srgbClr val="28B8AC"/>
      </a:accent1>
      <a:accent2>
        <a:srgbClr val="45D6C5"/>
      </a:accent2>
      <a:accent3>
        <a:srgbClr val="17666A"/>
      </a:accent3>
      <a:accent4>
        <a:srgbClr val="E8B25A"/>
      </a:accent4>
      <a:accent5>
        <a:srgbClr val="F07A5F"/>
      </a:accent5>
      <a:accent6>
        <a:srgbClr val="C7A6F2"/>
      </a:accent6>
      <a:hlink>
        <a:srgbClr val="45D6C5"/>
      </a:hlink>
      <a:folHlink>
        <a:srgbClr val="28B8AC"/>
      </a:folHlink>
    </a:clrScheme>
    <a:fontScheme name="CorroSight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CorroGuard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CorroSight by CorroGuard AI - Second Round Review</dc:title>
  <dc:subject>PptxGenJS Presentation</dc:subject>
  <dc:creator>CorroGuard AI</dc:creator>
  <cp:lastModifiedBy>CorroGuard AI</cp:lastModifiedBy>
  <cp:revision>1</cp:revision>
  <dcterms:created xsi:type="dcterms:W3CDTF">2026-10-23T12:52:59Z</dcterms:created>
  <dcterms:modified xsi:type="dcterms:W3CDTF">2026-10-23T12:52:59Z</dcterms:modified>
</cp:coreProperties>
</file>